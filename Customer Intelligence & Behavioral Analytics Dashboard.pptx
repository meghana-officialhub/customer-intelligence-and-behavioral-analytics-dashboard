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Quattrocento Sans" panose="020B0502050000020003" pitchFamily="34" charset="0"/>
      <p:regular r:id="rId18"/>
    </p:embeddedFont>
    <p:embeddedFont>
      <p:font typeface="Quattrocento Sans" panose="020B0502050000020003" pitchFamily="34" charset="-122"/>
      <p:regular r:id="rId19"/>
    </p:embeddedFont>
    <p:embeddedFont>
      <p:font typeface="Quattrocento Sans" panose="020B0502050000020003" pitchFamily="34" charset="-120"/>
      <p:regular r:id="rId20"/>
    </p:embeddedFont>
    <p:embeddedFont>
      <p:font typeface="Liter" panose="02000503030000020004" pitchFamily="34" charset="0"/>
      <p:regular r:id="rId21"/>
    </p:embeddedFont>
    <p:embeddedFont>
      <p:font typeface="Liter" panose="02000503030000020004" pitchFamily="34" charset="-122"/>
      <p:regular r:id="rId22"/>
    </p:embeddedFont>
    <p:embeddedFont>
      <p:font typeface="Liter" panose="02000503030000020004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A9GVG5VjsqEm/RU980QPkw==" hashData="QCxaHgpjt8LRd2ozna+jJ+GHuqg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a5f87fd1480689d50c4666ff1d4d77cc352e4a6.jpg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735901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19050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0888" y="466590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5" name="Text 2"/>
          <p:cNvSpPr/>
          <p:nvPr/>
        </p:nvSpPr>
        <p:spPr>
          <a:xfrm>
            <a:off x="952275" y="380888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706880"/>
            <a:ext cx="8820150" cy="229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Intelligence &amp;</a:t>
            </a:r>
            <a:endParaRPr lang="en-US" sz="4800" dirty="0"/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Behavioral Analytics</a:t>
            </a:r>
            <a:endParaRPr lang="en-US" sz="4800" dirty="0"/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80888" y="4231436"/>
            <a:ext cx="6496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Turning Customer Behavior Data into Strategic Business Decisions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906135"/>
            <a:ext cx="181610" cy="22352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9" name="Text 6"/>
          <p:cNvSpPr/>
          <p:nvPr/>
        </p:nvSpPr>
        <p:spPr>
          <a:xfrm>
            <a:off x="623570" y="5899150"/>
            <a:ext cx="1925955" cy="259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Prepared by </a:t>
            </a:r>
            <a:r>
              <a:rPr lang="en-US" sz="14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Meghana 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482" y="6237639"/>
            <a:ext cx="673939" cy="235789"/>
          </a:xfrm>
          <a:custGeom>
            <a:avLst/>
            <a:gdLst/>
            <a:ahLst/>
            <a:cxnLst/>
            <a:rect l="l" t="t" r="r" b="b"/>
            <a:pathLst>
              <a:path w="673939" h="235789">
                <a:moveTo>
                  <a:pt x="38101" y="0"/>
                </a:moveTo>
                <a:lnTo>
                  <a:pt x="635838" y="0"/>
                </a:lnTo>
                <a:cubicBezTo>
                  <a:pt x="656880" y="0"/>
                  <a:pt x="673939" y="17058"/>
                  <a:pt x="673939" y="38101"/>
                </a:cubicBezTo>
                <a:lnTo>
                  <a:pt x="673939" y="197688"/>
                </a:lnTo>
                <a:cubicBezTo>
                  <a:pt x="673939" y="218730"/>
                  <a:pt x="656880" y="235789"/>
                  <a:pt x="635838" y="235789"/>
                </a:cubicBezTo>
                <a:lnTo>
                  <a:pt x="38101" y="235789"/>
                </a:lnTo>
                <a:cubicBezTo>
                  <a:pt x="17058" y="235789"/>
                  <a:pt x="0" y="218730"/>
                  <a:pt x="0" y="197688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9585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0888" y="6234045"/>
            <a:ext cx="72390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22" y="6237639"/>
            <a:ext cx="445339" cy="235789"/>
          </a:xfrm>
          <a:custGeom>
            <a:avLst/>
            <a:gdLst/>
            <a:ahLst/>
            <a:cxnLst/>
            <a:rect l="l" t="t" r="r" b="b"/>
            <a:pathLst>
              <a:path w="445339" h="235789">
                <a:moveTo>
                  <a:pt x="38101" y="0"/>
                </a:moveTo>
                <a:lnTo>
                  <a:pt x="407238" y="0"/>
                </a:lnTo>
                <a:cubicBezTo>
                  <a:pt x="428280" y="0"/>
                  <a:pt x="445339" y="17058"/>
                  <a:pt x="445339" y="38101"/>
                </a:cubicBezTo>
                <a:lnTo>
                  <a:pt x="445339" y="197688"/>
                </a:lnTo>
                <a:cubicBezTo>
                  <a:pt x="445339" y="218730"/>
                  <a:pt x="428280" y="235789"/>
                  <a:pt x="407238" y="235789"/>
                </a:cubicBezTo>
                <a:lnTo>
                  <a:pt x="38101" y="235789"/>
                </a:lnTo>
                <a:cubicBezTo>
                  <a:pt x="17058" y="235789"/>
                  <a:pt x="0" y="218730"/>
                  <a:pt x="0" y="197688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9585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1427" y="6234045"/>
            <a:ext cx="49530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69346" y="6237639"/>
            <a:ext cx="464389" cy="235789"/>
          </a:xfrm>
          <a:custGeom>
            <a:avLst/>
            <a:gdLst/>
            <a:ahLst/>
            <a:cxnLst/>
            <a:rect l="l" t="t" r="r" b="b"/>
            <a:pathLst>
              <a:path w="464389" h="235789">
                <a:moveTo>
                  <a:pt x="38101" y="0"/>
                </a:moveTo>
                <a:lnTo>
                  <a:pt x="426288" y="0"/>
                </a:lnTo>
                <a:cubicBezTo>
                  <a:pt x="447330" y="0"/>
                  <a:pt x="464389" y="17058"/>
                  <a:pt x="464389" y="38101"/>
                </a:cubicBezTo>
                <a:lnTo>
                  <a:pt x="464389" y="197688"/>
                </a:lnTo>
                <a:cubicBezTo>
                  <a:pt x="464389" y="218730"/>
                  <a:pt x="447330" y="235789"/>
                  <a:pt x="426288" y="235789"/>
                </a:cubicBezTo>
                <a:lnTo>
                  <a:pt x="38101" y="235789"/>
                </a:lnTo>
                <a:cubicBezTo>
                  <a:pt x="17058" y="235789"/>
                  <a:pt x="0" y="218730"/>
                  <a:pt x="0" y="197688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9585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65752" y="6234045"/>
            <a:ext cx="5143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216135" y="6237639"/>
            <a:ext cx="578689" cy="235789"/>
          </a:xfrm>
          <a:custGeom>
            <a:avLst/>
            <a:gdLst/>
            <a:ahLst/>
            <a:cxnLst/>
            <a:rect l="l" t="t" r="r" b="b"/>
            <a:pathLst>
              <a:path w="578689" h="235789">
                <a:moveTo>
                  <a:pt x="38101" y="0"/>
                </a:moveTo>
                <a:lnTo>
                  <a:pt x="540588" y="0"/>
                </a:lnTo>
                <a:cubicBezTo>
                  <a:pt x="561630" y="0"/>
                  <a:pt x="578689" y="17058"/>
                  <a:pt x="578689" y="38101"/>
                </a:cubicBezTo>
                <a:lnTo>
                  <a:pt x="578689" y="197688"/>
                </a:lnTo>
                <a:cubicBezTo>
                  <a:pt x="578689" y="218730"/>
                  <a:pt x="561630" y="235789"/>
                  <a:pt x="540588" y="235789"/>
                </a:cubicBezTo>
                <a:lnTo>
                  <a:pt x="38101" y="235789"/>
                </a:lnTo>
                <a:cubicBezTo>
                  <a:pt x="17058" y="235789"/>
                  <a:pt x="0" y="218730"/>
                  <a:pt x="0" y="197688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9585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541" y="6234045"/>
            <a:ext cx="628650" cy="2286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953603" y="5829457"/>
            <a:ext cx="1857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~4K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115528" y="6286612"/>
            <a:ext cx="1695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Records Analyzed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33243" y="571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/ 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3"/>
            <a:ext cx="27336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8859" y="1218930"/>
            <a:ext cx="5580572" cy="1504950"/>
          </a:xfrm>
          <a:custGeom>
            <a:avLst/>
            <a:gdLst/>
            <a:ahLst/>
            <a:cxnLst/>
            <a:rect l="l" t="t" r="r" b="b"/>
            <a:pathLst>
              <a:path w="5580572" h="1504950">
                <a:moveTo>
                  <a:pt x="0" y="0"/>
                </a:moveTo>
                <a:lnTo>
                  <a:pt x="5504376" y="0"/>
                </a:lnTo>
                <a:cubicBezTo>
                  <a:pt x="5546458" y="0"/>
                  <a:pt x="5580572" y="34114"/>
                  <a:pt x="5580572" y="76196"/>
                </a:cubicBezTo>
                <a:lnTo>
                  <a:pt x="5580572" y="1428754"/>
                </a:lnTo>
                <a:cubicBezTo>
                  <a:pt x="5580572" y="1470836"/>
                  <a:pt x="5546458" y="1504950"/>
                  <a:pt x="5504376" y="1504950"/>
                </a:cubicBez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98859" y="1218930"/>
            <a:ext cx="35943" cy="1504950"/>
          </a:xfrm>
          <a:custGeom>
            <a:avLst/>
            <a:gdLst/>
            <a:ahLst/>
            <a:cxnLst/>
            <a:rect l="l" t="t" r="r" b="b"/>
            <a:pathLst>
              <a:path w="35943" h="1504950">
                <a:moveTo>
                  <a:pt x="0" y="0"/>
                </a:moveTo>
                <a:lnTo>
                  <a:pt x="35943" y="0"/>
                </a:lnTo>
                <a:lnTo>
                  <a:pt x="35943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8" name="Text 6"/>
          <p:cNvSpPr/>
          <p:nvPr/>
        </p:nvSpPr>
        <p:spPr>
          <a:xfrm>
            <a:off x="607219" y="1409318"/>
            <a:ext cx="527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7219" y="1790206"/>
            <a:ext cx="52578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Analyze customer purchasing behavior to uncover actionable insights that improve </a:t>
            </a: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retention</a:t>
            </a:r>
            <a:r>
              <a:rPr lang="en-US" sz="120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increase </a:t>
            </a: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order value (AOV)</a:t>
            </a:r>
            <a:r>
              <a:rPr lang="en-US" sz="120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and reduce over-reliance on </a:t>
            </a: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discount-driven sales</a:t>
            </a:r>
            <a:r>
              <a:rPr lang="en-US" sz="120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888" y="2913999"/>
            <a:ext cx="5600700" cy="2209800"/>
          </a:xfrm>
          <a:custGeom>
            <a:avLst/>
            <a:gdLst/>
            <a:ahLst/>
            <a:cxnLst/>
            <a:rect l="l" t="t" r="r" b="b"/>
            <a:pathLst>
              <a:path w="5600700" h="2209800">
                <a:moveTo>
                  <a:pt x="76194" y="0"/>
                </a:moveTo>
                <a:lnTo>
                  <a:pt x="5524506" y="0"/>
                </a:lnTo>
                <a:cubicBezTo>
                  <a:pt x="5566587" y="0"/>
                  <a:pt x="5600700" y="34113"/>
                  <a:pt x="5600700" y="76194"/>
                </a:cubicBezTo>
                <a:lnTo>
                  <a:pt x="5600700" y="2133606"/>
                </a:lnTo>
                <a:cubicBezTo>
                  <a:pt x="5600700" y="2175687"/>
                  <a:pt x="5566587" y="2209800"/>
                  <a:pt x="5524506" y="2209800"/>
                </a:cubicBezTo>
                <a:lnTo>
                  <a:pt x="76194" y="2209800"/>
                </a:lnTo>
                <a:cubicBezTo>
                  <a:pt x="34113" y="2209800"/>
                  <a:pt x="0" y="2175687"/>
                  <a:pt x="0" y="21336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90325" y="31518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12" name="Text 10"/>
          <p:cNvSpPr/>
          <p:nvPr/>
        </p:nvSpPr>
        <p:spPr>
          <a:xfrm>
            <a:off x="780825" y="3104386"/>
            <a:ext cx="509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Focus Areas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275" y="35993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4" name="Text 12"/>
          <p:cNvSpPr/>
          <p:nvPr/>
        </p:nvSpPr>
        <p:spPr>
          <a:xfrm>
            <a:off x="761663" y="3523240"/>
            <a:ext cx="2638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Revenue contribution by customer segments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275" y="39040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6" name="Text 14"/>
          <p:cNvSpPr/>
          <p:nvPr/>
        </p:nvSpPr>
        <p:spPr>
          <a:xfrm>
            <a:off x="761663" y="3827859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RFM-based behavioral segmentation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275" y="420863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8" name="Text 16"/>
          <p:cNvSpPr/>
          <p:nvPr/>
        </p:nvSpPr>
        <p:spPr>
          <a:xfrm>
            <a:off x="761663" y="4132479"/>
            <a:ext cx="2295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Purchase frequency vs. spend patterns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275" y="451325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0" name="Text 18"/>
          <p:cNvSpPr/>
          <p:nvPr/>
        </p:nvSpPr>
        <p:spPr>
          <a:xfrm>
            <a:off x="761663" y="4437100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Subscription impact on repeat behavior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275" y="48178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2" name="Text 20"/>
          <p:cNvSpPr/>
          <p:nvPr/>
        </p:nvSpPr>
        <p:spPr>
          <a:xfrm>
            <a:off x="761663" y="474172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 influence on customer satisfaction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233" y="1218930"/>
            <a:ext cx="5600700" cy="2667000"/>
          </a:xfrm>
          <a:custGeom>
            <a:avLst/>
            <a:gdLst/>
            <a:ahLst/>
            <a:cxnLst/>
            <a:rect l="l" t="t" r="r" b="b"/>
            <a:pathLst>
              <a:path w="5600700" h="2667000">
                <a:moveTo>
                  <a:pt x="76196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2590804"/>
                </a:lnTo>
                <a:cubicBezTo>
                  <a:pt x="5600700" y="2632886"/>
                  <a:pt x="5566586" y="2667000"/>
                  <a:pt x="5524504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408955" y="145683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25" name="Text 23"/>
          <p:cNvSpPr/>
          <p:nvPr/>
        </p:nvSpPr>
        <p:spPr>
          <a:xfrm>
            <a:off x="6610170" y="1409318"/>
            <a:ext cx="509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620" y="1828171"/>
            <a:ext cx="2552700" cy="876300"/>
          </a:xfrm>
          <a:custGeom>
            <a:avLst/>
            <a:gdLst/>
            <a:ahLst/>
            <a:cxnLst/>
            <a:rect l="l" t="t" r="r" b="b"/>
            <a:pathLst>
              <a:path w="2552700" h="876300">
                <a:moveTo>
                  <a:pt x="76203" y="0"/>
                </a:moveTo>
                <a:lnTo>
                  <a:pt x="2476497" y="0"/>
                </a:lnTo>
                <a:cubicBezTo>
                  <a:pt x="2518583" y="0"/>
                  <a:pt x="2552700" y="34117"/>
                  <a:pt x="2552700" y="76203"/>
                </a:cubicBezTo>
                <a:lnTo>
                  <a:pt x="2552700" y="800097"/>
                </a:lnTo>
                <a:cubicBezTo>
                  <a:pt x="2552700" y="842183"/>
                  <a:pt x="2518583" y="876300"/>
                  <a:pt x="2476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7548473" y="194240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8" name="Text 26"/>
          <p:cNvSpPr/>
          <p:nvPr/>
        </p:nvSpPr>
        <p:spPr>
          <a:xfrm>
            <a:off x="6481515" y="2247136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6278" y="2437523"/>
            <a:ext cx="2381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67733" y="1828171"/>
            <a:ext cx="2552700" cy="876300"/>
          </a:xfrm>
          <a:custGeom>
            <a:avLst/>
            <a:gdLst/>
            <a:ahLst/>
            <a:cxnLst/>
            <a:rect l="l" t="t" r="r" b="b"/>
            <a:pathLst>
              <a:path w="2552700" h="876300">
                <a:moveTo>
                  <a:pt x="76203" y="0"/>
                </a:moveTo>
                <a:lnTo>
                  <a:pt x="2476497" y="0"/>
                </a:lnTo>
                <a:cubicBezTo>
                  <a:pt x="2518583" y="0"/>
                  <a:pt x="2552700" y="34117"/>
                  <a:pt x="2552700" y="76203"/>
                </a:cubicBezTo>
                <a:lnTo>
                  <a:pt x="2552700" y="800097"/>
                </a:lnTo>
                <a:cubicBezTo>
                  <a:pt x="2552700" y="842183"/>
                  <a:pt x="2518583" y="876300"/>
                  <a:pt x="2476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10244160" y="194240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2" name="Text 30"/>
          <p:cNvSpPr/>
          <p:nvPr/>
        </p:nvSpPr>
        <p:spPr>
          <a:xfrm>
            <a:off x="9148628" y="2247136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53390" y="2437523"/>
            <a:ext cx="2381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Query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620" y="2818412"/>
            <a:ext cx="2552700" cy="876300"/>
          </a:xfrm>
          <a:custGeom>
            <a:avLst/>
            <a:gdLst/>
            <a:ahLst/>
            <a:cxnLst/>
            <a:rect l="l" t="t" r="r" b="b"/>
            <a:pathLst>
              <a:path w="2552700" h="876300">
                <a:moveTo>
                  <a:pt x="76203" y="0"/>
                </a:moveTo>
                <a:lnTo>
                  <a:pt x="2476497" y="0"/>
                </a:lnTo>
                <a:cubicBezTo>
                  <a:pt x="2518583" y="0"/>
                  <a:pt x="2552700" y="34117"/>
                  <a:pt x="2552700" y="76203"/>
                </a:cubicBezTo>
                <a:lnTo>
                  <a:pt x="2552700" y="800097"/>
                </a:lnTo>
                <a:cubicBezTo>
                  <a:pt x="2552700" y="842183"/>
                  <a:pt x="2518583" y="876300"/>
                  <a:pt x="2476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591335" y="293264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6" name="Text 34"/>
          <p:cNvSpPr/>
          <p:nvPr/>
        </p:nvSpPr>
        <p:spPr>
          <a:xfrm>
            <a:off x="6481515" y="3237377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6278" y="3427764"/>
            <a:ext cx="2381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7733" y="2818412"/>
            <a:ext cx="2552700" cy="876300"/>
          </a:xfrm>
          <a:custGeom>
            <a:avLst/>
            <a:gdLst/>
            <a:ahLst/>
            <a:cxnLst/>
            <a:rect l="l" t="t" r="r" b="b"/>
            <a:pathLst>
              <a:path w="2552700" h="876300">
                <a:moveTo>
                  <a:pt x="76203" y="0"/>
                </a:moveTo>
                <a:lnTo>
                  <a:pt x="2476497" y="0"/>
                </a:lnTo>
                <a:cubicBezTo>
                  <a:pt x="2518583" y="0"/>
                  <a:pt x="2552700" y="34117"/>
                  <a:pt x="2552700" y="76203"/>
                </a:cubicBezTo>
                <a:lnTo>
                  <a:pt x="2552700" y="800097"/>
                </a:lnTo>
                <a:cubicBezTo>
                  <a:pt x="2552700" y="842183"/>
                  <a:pt x="2518583" y="876300"/>
                  <a:pt x="24764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0244160" y="293264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0" name="Text 38"/>
          <p:cNvSpPr/>
          <p:nvPr/>
        </p:nvSpPr>
        <p:spPr>
          <a:xfrm>
            <a:off x="9148628" y="3237377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53390" y="3427764"/>
            <a:ext cx="2381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3827" y="4078789"/>
            <a:ext cx="5588839" cy="1264489"/>
          </a:xfrm>
          <a:custGeom>
            <a:avLst/>
            <a:gdLst/>
            <a:ahLst/>
            <a:cxnLst/>
            <a:rect l="l" t="t" r="r" b="b"/>
            <a:pathLst>
              <a:path w="5588839" h="1264489">
                <a:moveTo>
                  <a:pt x="76198" y="0"/>
                </a:moveTo>
                <a:lnTo>
                  <a:pt x="5512641" y="0"/>
                </a:lnTo>
                <a:cubicBezTo>
                  <a:pt x="5554724" y="0"/>
                  <a:pt x="5588839" y="34115"/>
                  <a:pt x="5588839" y="76198"/>
                </a:cubicBezTo>
                <a:lnTo>
                  <a:pt x="5588839" y="1188291"/>
                </a:lnTo>
                <a:cubicBezTo>
                  <a:pt x="5588839" y="1230374"/>
                  <a:pt x="5554724" y="1264489"/>
                  <a:pt x="5512641" y="1264489"/>
                </a:cubicBezTo>
                <a:lnTo>
                  <a:pt x="76198" y="1264489"/>
                </a:lnTo>
                <a:cubicBezTo>
                  <a:pt x="34115" y="1264489"/>
                  <a:pt x="0" y="1230374"/>
                  <a:pt x="0" y="1188291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6859" y="432028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4" name="Text 42"/>
          <p:cNvSpPr/>
          <p:nvPr/>
        </p:nvSpPr>
        <p:spPr>
          <a:xfrm>
            <a:off x="6617359" y="4272772"/>
            <a:ext cx="5086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Business Question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7809" y="4653546"/>
            <a:ext cx="52863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"How can customer behavior insights be used to improve retention, increase customer value, and support sustainable revenue growth?"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47530" y="57127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7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/ Dataset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2"/>
            <a:ext cx="2838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1"/>
            <a:ext cx="2419350" cy="914400"/>
          </a:xfrm>
          <a:custGeom>
            <a:avLst/>
            <a:gdLst/>
            <a:ahLst/>
            <a:cxnLst/>
            <a:rect l="l" t="t" r="r" b="b"/>
            <a:pathLst>
              <a:path w="2419350" h="914400">
                <a:moveTo>
                  <a:pt x="76197" y="0"/>
                </a:moveTo>
                <a:lnTo>
                  <a:pt x="2343153" y="0"/>
                </a:lnTo>
                <a:cubicBezTo>
                  <a:pt x="2385235" y="0"/>
                  <a:pt x="2419350" y="34115"/>
                  <a:pt x="2419350" y="76197"/>
                </a:cubicBezTo>
                <a:lnTo>
                  <a:pt x="2419350" y="838203"/>
                </a:lnTo>
                <a:cubicBezTo>
                  <a:pt x="2419350" y="880285"/>
                  <a:pt x="2385235" y="914400"/>
                  <a:pt x="23431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447473" y="133305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~4,000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9860" y="1752128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Records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50504" y="1180741"/>
            <a:ext cx="2419350" cy="914400"/>
          </a:xfrm>
          <a:custGeom>
            <a:avLst/>
            <a:gdLst/>
            <a:ahLst/>
            <a:cxnLst/>
            <a:rect l="l" t="t" r="r" b="b"/>
            <a:pathLst>
              <a:path w="2419350" h="914400">
                <a:moveTo>
                  <a:pt x="76197" y="0"/>
                </a:moveTo>
                <a:lnTo>
                  <a:pt x="2343153" y="0"/>
                </a:lnTo>
                <a:cubicBezTo>
                  <a:pt x="2385235" y="0"/>
                  <a:pt x="2419350" y="34115"/>
                  <a:pt x="2419350" y="76197"/>
                </a:cubicBezTo>
                <a:lnTo>
                  <a:pt x="2419350" y="838203"/>
                </a:lnTo>
                <a:cubicBezTo>
                  <a:pt x="2419350" y="880285"/>
                  <a:pt x="2385235" y="914400"/>
                  <a:pt x="23431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3017089" y="133305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9476" y="1752128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Columns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0119" y="1180741"/>
            <a:ext cx="2419350" cy="914400"/>
          </a:xfrm>
          <a:custGeom>
            <a:avLst/>
            <a:gdLst/>
            <a:ahLst/>
            <a:cxnLst/>
            <a:rect l="l" t="t" r="r" b="b"/>
            <a:pathLst>
              <a:path w="2419350" h="914400">
                <a:moveTo>
                  <a:pt x="76197" y="0"/>
                </a:moveTo>
                <a:lnTo>
                  <a:pt x="2343153" y="0"/>
                </a:lnTo>
                <a:cubicBezTo>
                  <a:pt x="2385235" y="0"/>
                  <a:pt x="2419350" y="34115"/>
                  <a:pt x="2419350" y="76197"/>
                </a:cubicBezTo>
                <a:lnTo>
                  <a:pt x="2419350" y="838203"/>
                </a:lnTo>
                <a:cubicBezTo>
                  <a:pt x="2419350" y="880285"/>
                  <a:pt x="2385235" y="914400"/>
                  <a:pt x="23431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5586704" y="133305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37 Values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39092" y="1752128"/>
            <a:ext cx="218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888" y="2247136"/>
            <a:ext cx="7553325" cy="2171700"/>
          </a:xfrm>
          <a:custGeom>
            <a:avLst/>
            <a:gdLst/>
            <a:ahLst/>
            <a:cxnLst/>
            <a:rect l="l" t="t" r="r" b="b"/>
            <a:pathLst>
              <a:path w="7553325" h="2171700">
                <a:moveTo>
                  <a:pt x="76205" y="0"/>
                </a:moveTo>
                <a:lnTo>
                  <a:pt x="7477120" y="0"/>
                </a:lnTo>
                <a:cubicBezTo>
                  <a:pt x="7519207" y="0"/>
                  <a:pt x="7553325" y="34118"/>
                  <a:pt x="7553325" y="76205"/>
                </a:cubicBezTo>
                <a:lnTo>
                  <a:pt x="7553325" y="2095495"/>
                </a:lnTo>
                <a:cubicBezTo>
                  <a:pt x="7553325" y="2137582"/>
                  <a:pt x="7519207" y="2171700"/>
                  <a:pt x="7477120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71275" y="2437523"/>
            <a:ext cx="7267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275" y="2856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66525" y="297072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19" name="Text 17"/>
          <p:cNvSpPr/>
          <p:nvPr/>
        </p:nvSpPr>
        <p:spPr>
          <a:xfrm>
            <a:off x="1066396" y="2856488"/>
            <a:ext cx="904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396" y="3046877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Age, Gender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73445" y="28564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4368695" y="297072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3" name="Text 21"/>
          <p:cNvSpPr/>
          <p:nvPr/>
        </p:nvSpPr>
        <p:spPr>
          <a:xfrm>
            <a:off x="4768566" y="2856488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8566" y="3046877"/>
            <a:ext cx="2057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Purchase Frequency, Previous Purchases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275" y="33516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714150" y="3465842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7" name="Text 25"/>
          <p:cNvSpPr/>
          <p:nvPr/>
        </p:nvSpPr>
        <p:spPr>
          <a:xfrm>
            <a:off x="1066396" y="3351609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396" y="3541997"/>
            <a:ext cx="857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AOV, CLV Proxy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73445" y="33516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397270" y="346584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31" name="Text 29"/>
          <p:cNvSpPr/>
          <p:nvPr/>
        </p:nvSpPr>
        <p:spPr>
          <a:xfrm>
            <a:off x="4768566" y="3351609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68566" y="3541997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Subscription Status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275" y="38467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76050" y="396096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35" name="Text 33"/>
          <p:cNvSpPr/>
          <p:nvPr/>
        </p:nvSpPr>
        <p:spPr>
          <a:xfrm>
            <a:off x="1066396" y="3846729"/>
            <a:ext cx="771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Satisfaction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6396" y="4037118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Review Rating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73445" y="38467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4387745" y="39609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9" name="Text 37"/>
          <p:cNvSpPr/>
          <p:nvPr/>
        </p:nvSpPr>
        <p:spPr>
          <a:xfrm>
            <a:off x="4768566" y="3846729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Promotional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68566" y="4037118"/>
            <a:ext cx="9048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 Applied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31408" y="1184335"/>
            <a:ext cx="3674314" cy="2236039"/>
          </a:xfrm>
          <a:custGeom>
            <a:avLst/>
            <a:gdLst/>
            <a:ahLst/>
            <a:cxnLst/>
            <a:rect l="l" t="t" r="r" b="b"/>
            <a:pathLst>
              <a:path w="3674314" h="2236039">
                <a:moveTo>
                  <a:pt x="76204" y="0"/>
                </a:moveTo>
                <a:lnTo>
                  <a:pt x="3598109" y="0"/>
                </a:lnTo>
                <a:cubicBezTo>
                  <a:pt x="3640196" y="0"/>
                  <a:pt x="3674314" y="34118"/>
                  <a:pt x="3674314" y="76204"/>
                </a:cubicBezTo>
                <a:lnTo>
                  <a:pt x="3674314" y="2159834"/>
                </a:lnTo>
                <a:cubicBezTo>
                  <a:pt x="3674314" y="2201921"/>
                  <a:pt x="3640196" y="2236039"/>
                  <a:pt x="3598109" y="2236039"/>
                </a:cubicBezTo>
                <a:lnTo>
                  <a:pt x="76204" y="2236039"/>
                </a:lnTo>
                <a:cubicBezTo>
                  <a:pt x="34118" y="2236039"/>
                  <a:pt x="0" y="2201921"/>
                  <a:pt x="0" y="2159834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44440" y="142582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3" name="Text 41"/>
          <p:cNvSpPr/>
          <p:nvPr/>
        </p:nvSpPr>
        <p:spPr>
          <a:xfrm>
            <a:off x="8534940" y="1378317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Constraints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0152" y="1873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5" name="Text 43"/>
          <p:cNvSpPr/>
          <p:nvPr/>
        </p:nvSpPr>
        <p:spPr>
          <a:xfrm>
            <a:off x="8469612" y="1797169"/>
            <a:ext cx="32099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transaction-level timestamps (recency approximated)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34915" y="24206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7" name="Text 45"/>
          <p:cNvSpPr/>
          <p:nvPr/>
        </p:nvSpPr>
        <p:spPr>
          <a:xfrm>
            <a:off x="8472982" y="2344520"/>
            <a:ext cx="19526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CLV calculated as a proxy metric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4915" y="275146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9" name="Text 47"/>
          <p:cNvSpPr/>
          <p:nvPr/>
        </p:nvSpPr>
        <p:spPr>
          <a:xfrm>
            <a:off x="8472982" y="2675312"/>
            <a:ext cx="24288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marketing channel data for attribution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34915" y="30822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1" name="Text 49"/>
          <p:cNvSpPr/>
          <p:nvPr/>
        </p:nvSpPr>
        <p:spPr>
          <a:xfrm>
            <a:off x="8472982" y="3006104"/>
            <a:ext cx="23336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geographic or income segmentation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27813" y="3572548"/>
            <a:ext cx="3686175" cy="1638300"/>
          </a:xfrm>
          <a:custGeom>
            <a:avLst/>
            <a:gdLst/>
            <a:ahLst/>
            <a:cxnLst/>
            <a:rect l="l" t="t" r="r" b="b"/>
            <a:pathLst>
              <a:path w="3686175" h="1638300">
                <a:moveTo>
                  <a:pt x="76197" y="0"/>
                </a:moveTo>
                <a:lnTo>
                  <a:pt x="3609978" y="0"/>
                </a:lnTo>
                <a:cubicBezTo>
                  <a:pt x="3652060" y="0"/>
                  <a:pt x="3686175" y="34115"/>
                  <a:pt x="3686175" y="76197"/>
                </a:cubicBezTo>
                <a:lnTo>
                  <a:pt x="3686175" y="1562103"/>
                </a:lnTo>
                <a:cubicBezTo>
                  <a:pt x="3686175" y="1604185"/>
                  <a:pt x="3652060" y="1638300"/>
                  <a:pt x="360997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8318200" y="3762937"/>
            <a:ext cx="3390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18200" y="4162806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318238" y="4143712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18200" y="4448445"/>
            <a:ext cx="3305175" cy="76200"/>
          </a:xfrm>
          <a:custGeom>
            <a:avLst/>
            <a:gdLst/>
            <a:ahLst/>
            <a:cxnLst/>
            <a:rect l="l" t="t" r="r" b="b"/>
            <a:pathLst>
              <a:path w="3305175" h="76200">
                <a:moveTo>
                  <a:pt x="38100" y="0"/>
                </a:moveTo>
                <a:lnTo>
                  <a:pt x="3267075" y="0"/>
                </a:lnTo>
                <a:cubicBezTo>
                  <a:pt x="3288103" y="0"/>
                  <a:pt x="3305175" y="17072"/>
                  <a:pt x="3305175" y="38100"/>
                </a:cubicBezTo>
                <a:lnTo>
                  <a:pt x="3305175" y="38100"/>
                </a:lnTo>
                <a:cubicBezTo>
                  <a:pt x="3305175" y="59128"/>
                  <a:pt x="3288103" y="76200"/>
                  <a:pt x="3267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A"/>
          </a:solidFill>
        </p:spPr>
      </p:sp>
      <p:sp>
        <p:nvSpPr>
          <p:cNvPr id="57" name="Shape 55"/>
          <p:cNvSpPr/>
          <p:nvPr/>
        </p:nvSpPr>
        <p:spPr>
          <a:xfrm>
            <a:off x="8318500" y="4448175"/>
            <a:ext cx="2835275" cy="76200"/>
          </a:xfrm>
          <a:custGeom>
            <a:avLst/>
            <a:gdLst/>
            <a:ahLst/>
            <a:cxnLst/>
            <a:rect l="l" t="t" r="r" b="b"/>
            <a:pathLst>
              <a:path w="3133725" h="76200">
                <a:moveTo>
                  <a:pt x="38100" y="0"/>
                </a:moveTo>
                <a:lnTo>
                  <a:pt x="3095625" y="0"/>
                </a:lnTo>
                <a:cubicBezTo>
                  <a:pt x="3116653" y="0"/>
                  <a:pt x="3133725" y="17072"/>
                  <a:pt x="3133725" y="38100"/>
                </a:cubicBezTo>
                <a:lnTo>
                  <a:pt x="3133725" y="38100"/>
                </a:lnTo>
                <a:cubicBezTo>
                  <a:pt x="3133725" y="59128"/>
                  <a:pt x="3116653" y="76200"/>
                  <a:pt x="3095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8" name="Text 56"/>
          <p:cNvSpPr/>
          <p:nvPr/>
        </p:nvSpPr>
        <p:spPr>
          <a:xfrm>
            <a:off x="8318200" y="4657927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08531" y="4638832"/>
            <a:ext cx="590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Verified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18200" y="4943566"/>
            <a:ext cx="3305175" cy="76200"/>
          </a:xfrm>
          <a:custGeom>
            <a:avLst/>
            <a:gdLst/>
            <a:ahLst/>
            <a:cxnLst/>
            <a:rect l="l" t="t" r="r" b="b"/>
            <a:pathLst>
              <a:path w="3305175" h="76200">
                <a:moveTo>
                  <a:pt x="38100" y="0"/>
                </a:moveTo>
                <a:lnTo>
                  <a:pt x="3267075" y="0"/>
                </a:lnTo>
                <a:cubicBezTo>
                  <a:pt x="3288103" y="0"/>
                  <a:pt x="3305175" y="17072"/>
                  <a:pt x="3305175" y="38100"/>
                </a:cubicBezTo>
                <a:lnTo>
                  <a:pt x="3305175" y="38100"/>
                </a:lnTo>
                <a:cubicBezTo>
                  <a:pt x="3305175" y="59128"/>
                  <a:pt x="3288103" y="76200"/>
                  <a:pt x="3267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A"/>
          </a:solidFill>
        </p:spPr>
      </p:sp>
      <p:sp>
        <p:nvSpPr>
          <p:cNvPr id="61" name="Shape 59"/>
          <p:cNvSpPr/>
          <p:nvPr/>
        </p:nvSpPr>
        <p:spPr>
          <a:xfrm>
            <a:off x="8318200" y="4943566"/>
            <a:ext cx="3305175" cy="76200"/>
          </a:xfrm>
          <a:custGeom>
            <a:avLst/>
            <a:gdLst/>
            <a:ahLst/>
            <a:cxnLst/>
            <a:rect l="l" t="t" r="r" b="b"/>
            <a:pathLst>
              <a:path w="3305175" h="76200">
                <a:moveTo>
                  <a:pt x="38100" y="0"/>
                </a:moveTo>
                <a:lnTo>
                  <a:pt x="3267075" y="0"/>
                </a:lnTo>
                <a:cubicBezTo>
                  <a:pt x="3288103" y="0"/>
                  <a:pt x="3305175" y="17072"/>
                  <a:pt x="3305175" y="38100"/>
                </a:cubicBezTo>
                <a:lnTo>
                  <a:pt x="3305175" y="38100"/>
                </a:lnTo>
                <a:cubicBezTo>
                  <a:pt x="3305175" y="59128"/>
                  <a:pt x="3288103" y="76200"/>
                  <a:pt x="32670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04668" y="571277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441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/ Data Preparation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4514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Preparation &amp; Modeling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98714"/>
            <a:ext cx="3686175" cy="4580447"/>
          </a:xfrm>
          <a:custGeom>
            <a:avLst/>
            <a:gdLst/>
            <a:ahLst/>
            <a:cxnLst/>
            <a:rect l="l" t="t" r="r" b="b"/>
            <a:pathLst>
              <a:path w="3686175" h="4580447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4504253"/>
                </a:lnTo>
                <a:cubicBezTo>
                  <a:pt x="3686175" y="4546334"/>
                  <a:pt x="3652062" y="4580447"/>
                  <a:pt x="3609982" y="4580447"/>
                </a:cubicBezTo>
                <a:lnTo>
                  <a:pt x="76193" y="4580447"/>
                </a:lnTo>
                <a:cubicBezTo>
                  <a:pt x="34113" y="4580447"/>
                  <a:pt x="0" y="4546334"/>
                  <a:pt x="0" y="4504253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80888" y="1198714"/>
            <a:ext cx="3686175" cy="35943"/>
          </a:xfrm>
          <a:custGeom>
            <a:avLst/>
            <a:gdLst/>
            <a:ahLst/>
            <a:cxnLst/>
            <a:rect l="l" t="t" r="r" b="b"/>
            <a:pathLst>
              <a:path w="3686175" h="35943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35943"/>
                </a:lnTo>
                <a:lnTo>
                  <a:pt x="0" y="35943"/>
                </a:ln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8" name="Shape 6"/>
          <p:cNvSpPr/>
          <p:nvPr/>
        </p:nvSpPr>
        <p:spPr>
          <a:xfrm>
            <a:off x="571275" y="140707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9" name="Text 7"/>
          <p:cNvSpPr/>
          <p:nvPr/>
        </p:nvSpPr>
        <p:spPr>
          <a:xfrm>
            <a:off x="701009" y="1502322"/>
            <a:ext cx="295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2663" y="1502322"/>
            <a:ext cx="126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325" y="20546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2" name="Text 10"/>
          <p:cNvSpPr/>
          <p:nvPr/>
        </p:nvSpPr>
        <p:spPr>
          <a:xfrm>
            <a:off x="874211" y="201653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Standardized column formats across all data sources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563" y="2549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4" name="Text 12"/>
          <p:cNvSpPr/>
          <p:nvPr/>
        </p:nvSpPr>
        <p:spPr>
          <a:xfrm>
            <a:off x="870616" y="251154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Verified categorical consistency for accurate grouping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563" y="304463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6" name="Text 14"/>
          <p:cNvSpPr/>
          <p:nvPr/>
        </p:nvSpPr>
        <p:spPr>
          <a:xfrm>
            <a:off x="869044" y="3006554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Checked for missing values and handled appropriately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275" y="3543234"/>
            <a:ext cx="3305175" cy="7189"/>
          </a:xfrm>
          <a:custGeom>
            <a:avLst/>
            <a:gdLst/>
            <a:ahLst/>
            <a:cxnLst/>
            <a:rect l="l" t="t" r="r" b="b"/>
            <a:pathLst>
              <a:path w="3305175" h="7189">
                <a:moveTo>
                  <a:pt x="0" y="0"/>
                </a:moveTo>
                <a:lnTo>
                  <a:pt x="3305175" y="0"/>
                </a:lnTo>
                <a:lnTo>
                  <a:pt x="3305175" y="7189"/>
                </a:lnTo>
                <a:lnTo>
                  <a:pt x="0" y="7189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71275" y="3699137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275" y="3927716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Clean, structured dataset ready for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4350" y="1198714"/>
            <a:ext cx="3686175" cy="4580447"/>
          </a:xfrm>
          <a:custGeom>
            <a:avLst/>
            <a:gdLst/>
            <a:ahLst/>
            <a:cxnLst/>
            <a:rect l="l" t="t" r="r" b="b"/>
            <a:pathLst>
              <a:path w="3686175" h="4580447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4504253"/>
                </a:lnTo>
                <a:cubicBezTo>
                  <a:pt x="3686175" y="4546334"/>
                  <a:pt x="3652062" y="4580447"/>
                  <a:pt x="3609982" y="4580447"/>
                </a:cubicBezTo>
                <a:lnTo>
                  <a:pt x="76193" y="4580447"/>
                </a:lnTo>
                <a:cubicBezTo>
                  <a:pt x="34113" y="4580447"/>
                  <a:pt x="0" y="4546334"/>
                  <a:pt x="0" y="4504253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254350" y="1198714"/>
            <a:ext cx="3686175" cy="35943"/>
          </a:xfrm>
          <a:custGeom>
            <a:avLst/>
            <a:gdLst/>
            <a:ahLst/>
            <a:cxnLst/>
            <a:rect l="l" t="t" r="r" b="b"/>
            <a:pathLst>
              <a:path w="3686175" h="35943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35943"/>
                </a:lnTo>
                <a:lnTo>
                  <a:pt x="0" y="35943"/>
                </a:ln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2" name="Shape 20"/>
          <p:cNvSpPr/>
          <p:nvPr/>
        </p:nvSpPr>
        <p:spPr>
          <a:xfrm>
            <a:off x="4444738" y="140707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3" name="Text 21"/>
          <p:cNvSpPr/>
          <p:nvPr/>
        </p:nvSpPr>
        <p:spPr>
          <a:xfrm>
            <a:off x="4557173" y="1502322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16126" y="1502322"/>
            <a:ext cx="178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9501" y="205461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6" name="Text 24"/>
          <p:cNvSpPr/>
          <p:nvPr/>
        </p:nvSpPr>
        <p:spPr>
          <a:xfrm>
            <a:off x="4743405" y="201653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RFM Segments:</a:t>
            </a: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Champions, Loyal, Occasional, At Risk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5213" y="25496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8" name="Text 26"/>
          <p:cNvSpPr/>
          <p:nvPr/>
        </p:nvSpPr>
        <p:spPr>
          <a:xfrm>
            <a:off x="4713864" y="2511547"/>
            <a:ext cx="3095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CLV Proxy:</a:t>
            </a: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Derived metric for customer lifetime value estimation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9976" y="304463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30" name="Text 28"/>
          <p:cNvSpPr/>
          <p:nvPr/>
        </p:nvSpPr>
        <p:spPr>
          <a:xfrm>
            <a:off x="4718694" y="3006554"/>
            <a:ext cx="30956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Frequency Levels:</a:t>
            </a: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Categorized purchase frequency for analysis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4738" y="3543234"/>
            <a:ext cx="3305175" cy="7189"/>
          </a:xfrm>
          <a:custGeom>
            <a:avLst/>
            <a:gdLst/>
            <a:ahLst/>
            <a:cxnLst/>
            <a:rect l="l" t="t" r="r" b="b"/>
            <a:pathLst>
              <a:path w="3305175" h="7189">
                <a:moveTo>
                  <a:pt x="0" y="0"/>
                </a:moveTo>
                <a:lnTo>
                  <a:pt x="3305175" y="0"/>
                </a:lnTo>
                <a:lnTo>
                  <a:pt x="3305175" y="7189"/>
                </a:lnTo>
                <a:lnTo>
                  <a:pt x="0" y="7189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3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444738" y="3699137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44738" y="3927716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Enhanced features enabling behavioral segmentation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7813" y="1198714"/>
            <a:ext cx="3686175" cy="4580447"/>
          </a:xfrm>
          <a:custGeom>
            <a:avLst/>
            <a:gdLst/>
            <a:ahLst/>
            <a:cxnLst/>
            <a:rect l="l" t="t" r="r" b="b"/>
            <a:pathLst>
              <a:path w="3686175" h="4580447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4504253"/>
                </a:lnTo>
                <a:cubicBezTo>
                  <a:pt x="3686175" y="4546334"/>
                  <a:pt x="3652062" y="4580447"/>
                  <a:pt x="3609982" y="4580447"/>
                </a:cubicBezTo>
                <a:lnTo>
                  <a:pt x="76193" y="4580447"/>
                </a:lnTo>
                <a:cubicBezTo>
                  <a:pt x="34113" y="4580447"/>
                  <a:pt x="0" y="4546334"/>
                  <a:pt x="0" y="4504253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127813" y="1198714"/>
            <a:ext cx="3686175" cy="35943"/>
          </a:xfrm>
          <a:custGeom>
            <a:avLst/>
            <a:gdLst/>
            <a:ahLst/>
            <a:cxnLst/>
            <a:rect l="l" t="t" r="r" b="b"/>
            <a:pathLst>
              <a:path w="3686175" h="35943">
                <a:moveTo>
                  <a:pt x="35943" y="0"/>
                </a:moveTo>
                <a:lnTo>
                  <a:pt x="3650232" y="0"/>
                </a:lnTo>
                <a:cubicBezTo>
                  <a:pt x="3670083" y="0"/>
                  <a:pt x="3686175" y="16092"/>
                  <a:pt x="3686175" y="35943"/>
                </a:cubicBezTo>
                <a:lnTo>
                  <a:pt x="3686175" y="35943"/>
                </a:lnTo>
                <a:lnTo>
                  <a:pt x="0" y="35943"/>
                </a:ln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36" name="Shape 34"/>
          <p:cNvSpPr/>
          <p:nvPr/>
        </p:nvSpPr>
        <p:spPr>
          <a:xfrm>
            <a:off x="8318200" y="140707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37" name="Text 35"/>
          <p:cNvSpPr/>
          <p:nvPr/>
        </p:nvSpPr>
        <p:spPr>
          <a:xfrm>
            <a:off x="8429850" y="1502322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89588" y="1502322"/>
            <a:ext cx="1752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Analytical Modeling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32488" y="20546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0" name="Text 38"/>
          <p:cNvSpPr/>
          <p:nvPr/>
        </p:nvSpPr>
        <p:spPr>
          <a:xfrm>
            <a:off x="8616531" y="201653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Grouped customers by RFM logic for targeted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7250" y="2549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2" name="Text 40"/>
          <p:cNvSpPr/>
          <p:nvPr/>
        </p:nvSpPr>
        <p:spPr>
          <a:xfrm>
            <a:off x="8622821" y="2511547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Calculated revenue and AOV per segment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37250" y="28543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4" name="Text 42"/>
          <p:cNvSpPr/>
          <p:nvPr/>
        </p:nvSpPr>
        <p:spPr>
          <a:xfrm>
            <a:off x="8622821" y="2816279"/>
            <a:ext cx="2943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Aggregated behavioral metrics for dashboard KPIs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18200" y="3162683"/>
            <a:ext cx="3305175" cy="7189"/>
          </a:xfrm>
          <a:custGeom>
            <a:avLst/>
            <a:gdLst/>
            <a:ahLst/>
            <a:cxnLst/>
            <a:rect l="l" t="t" r="r" b="b"/>
            <a:pathLst>
              <a:path w="3305175" h="7189">
                <a:moveTo>
                  <a:pt x="0" y="0"/>
                </a:moveTo>
                <a:lnTo>
                  <a:pt x="3305175" y="0"/>
                </a:lnTo>
                <a:lnTo>
                  <a:pt x="3305175" y="7189"/>
                </a:lnTo>
                <a:lnTo>
                  <a:pt x="0" y="7189"/>
                </a:lnTo>
                <a:lnTo>
                  <a:pt x="0" y="0"/>
                </a:lnTo>
                <a:close/>
              </a:path>
            </a:pathLst>
          </a:custGeom>
          <a:solidFill>
            <a:srgbClr val="5E7A91">
              <a:alpha val="3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8318200" y="3318588"/>
            <a:ext cx="33623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18200" y="3547165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Business-ready segmentation for strategic decisions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482" y="5933021"/>
            <a:ext cx="11427664" cy="540589"/>
          </a:xfrm>
          <a:custGeom>
            <a:avLst/>
            <a:gdLst/>
            <a:ahLst/>
            <a:cxnLst/>
            <a:rect l="l" t="t" r="r" b="b"/>
            <a:pathLst>
              <a:path w="11427664" h="540589">
                <a:moveTo>
                  <a:pt x="76201" y="0"/>
                </a:moveTo>
                <a:lnTo>
                  <a:pt x="11351462" y="0"/>
                </a:lnTo>
                <a:cubicBezTo>
                  <a:pt x="11393547" y="0"/>
                  <a:pt x="11427664" y="34117"/>
                  <a:pt x="11427664" y="76201"/>
                </a:cubicBezTo>
                <a:lnTo>
                  <a:pt x="11427664" y="464387"/>
                </a:lnTo>
                <a:cubicBezTo>
                  <a:pt x="11427664" y="506472"/>
                  <a:pt x="11393547" y="540589"/>
                  <a:pt x="11351462" y="540589"/>
                </a:cubicBezTo>
                <a:lnTo>
                  <a:pt x="76201" y="540589"/>
                </a:lnTo>
                <a:cubicBezTo>
                  <a:pt x="34117" y="540589"/>
                  <a:pt x="0" y="506472"/>
                  <a:pt x="0" y="464387"/>
                </a:cubicBezTo>
                <a:lnTo>
                  <a:pt x="0" y="76201"/>
                </a:lnTo>
                <a:cubicBezTo>
                  <a:pt x="0" y="34117"/>
                  <a:pt x="34117" y="0"/>
                  <a:pt x="76201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7144" y="611768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0" name="Text 48"/>
          <p:cNvSpPr/>
          <p:nvPr/>
        </p:nvSpPr>
        <p:spPr>
          <a:xfrm>
            <a:off x="749936" y="6088924"/>
            <a:ext cx="1094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Achievement:</a:t>
            </a:r>
            <a:r>
              <a:rPr lang="en-US" sz="120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This modeling enabled business-ready segmentation instead of simple descriptive reporting, providing actionable customer intelligence.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18955" y="57127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6"/>
            <a:ext cx="600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 / Behavioral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61055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Contribution by RFM Segment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0"/>
            <a:ext cx="6781800" cy="5295900"/>
          </a:xfrm>
          <a:custGeom>
            <a:avLst/>
            <a:gdLst/>
            <a:ahLst/>
            <a:cxnLst/>
            <a:rect l="l" t="t" r="r" b="b"/>
            <a:pathLst>
              <a:path w="6781800" h="5295900">
                <a:moveTo>
                  <a:pt x="76208" y="0"/>
                </a:moveTo>
                <a:lnTo>
                  <a:pt x="6705592" y="0"/>
                </a:lnTo>
                <a:cubicBezTo>
                  <a:pt x="6747652" y="0"/>
                  <a:pt x="6781800" y="34148"/>
                  <a:pt x="6781800" y="76208"/>
                </a:cubicBezTo>
                <a:lnTo>
                  <a:pt x="6781800" y="5219692"/>
                </a:lnTo>
                <a:cubicBezTo>
                  <a:pt x="6781800" y="5261781"/>
                  <a:pt x="6747681" y="5295900"/>
                  <a:pt x="670559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8413" y="1371128"/>
            <a:ext cx="648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Distribution Across Customer Segments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938" y="1675749"/>
            <a:ext cx="6467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 revenue contribution by RFM segment</a:t>
            </a:r>
            <a:endParaRPr lang="en-US" sz="1600" dirty="0"/>
          </a:p>
        </p:txBody>
      </p:sp>
      <p:pic>
        <p:nvPicPr>
          <p:cNvPr id="9" name="Image 0" descr="https://kimi-img.moonshot.cn/pub/slides/26-02-15-19:17:44-d68qmm08obdck0t53mgg.png"/>
          <p:cNvPicPr>
            <a:picLocks noChangeAspect="1"/>
          </p:cNvPicPr>
          <p:nvPr/>
        </p:nvPicPr>
        <p:blipFill>
          <a:blip r:embed="rId1"/>
          <a:srcRect l="27" r="27"/>
          <a:stretch>
            <a:fillRect/>
          </a:stretch>
        </p:blipFill>
        <p:spPr>
          <a:xfrm>
            <a:off x="571275" y="2018447"/>
            <a:ext cx="64008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371092" y="1180740"/>
            <a:ext cx="4437572" cy="1019175"/>
          </a:xfrm>
          <a:custGeom>
            <a:avLst/>
            <a:gdLst/>
            <a:ahLst/>
            <a:cxnLst/>
            <a:rect l="l" t="t" r="r" b="b"/>
            <a:pathLst>
              <a:path w="4437572" h="1019175">
                <a:moveTo>
                  <a:pt x="35943" y="0"/>
                </a:moveTo>
                <a:lnTo>
                  <a:pt x="4361368" y="0"/>
                </a:lnTo>
                <a:cubicBezTo>
                  <a:pt x="4403454" y="0"/>
                  <a:pt x="4437572" y="34118"/>
                  <a:pt x="4437572" y="76204"/>
                </a:cubicBezTo>
                <a:lnTo>
                  <a:pt x="4437572" y="942971"/>
                </a:lnTo>
                <a:cubicBezTo>
                  <a:pt x="4437572" y="985057"/>
                  <a:pt x="4403454" y="1019175"/>
                  <a:pt x="4361368" y="1019175"/>
                </a:cubicBez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7371092" y="1180740"/>
            <a:ext cx="35943" cy="1019175"/>
          </a:xfrm>
          <a:custGeom>
            <a:avLst/>
            <a:gdLst/>
            <a:ahLst/>
            <a:cxnLst/>
            <a:rect l="l" t="t" r="r" b="b"/>
            <a:pathLst>
              <a:path w="35943" h="1019175">
                <a:moveTo>
                  <a:pt x="35943" y="0"/>
                </a:moveTo>
                <a:lnTo>
                  <a:pt x="35943" y="0"/>
                </a:lnTo>
                <a:lnTo>
                  <a:pt x="35943" y="1019175"/>
                </a:ln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2" name="Shape 9"/>
          <p:cNvSpPr/>
          <p:nvPr/>
        </p:nvSpPr>
        <p:spPr>
          <a:xfrm>
            <a:off x="7541374" y="135203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3" name="Shape 10"/>
          <p:cNvSpPr/>
          <p:nvPr/>
        </p:nvSpPr>
        <p:spPr>
          <a:xfrm>
            <a:off x="7636624" y="146626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14" name="Text 11"/>
          <p:cNvSpPr/>
          <p:nvPr/>
        </p:nvSpPr>
        <p:spPr>
          <a:xfrm>
            <a:off x="8036494" y="1333051"/>
            <a:ext cx="91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Occasional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36494" y="1599593"/>
            <a:ext cx="885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Highest Revenue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41374" y="1828170"/>
            <a:ext cx="41814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Contribute the highest total revenue despite lower individual AOV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71092" y="2349350"/>
            <a:ext cx="4437572" cy="1019175"/>
          </a:xfrm>
          <a:custGeom>
            <a:avLst/>
            <a:gdLst/>
            <a:ahLst/>
            <a:cxnLst/>
            <a:rect l="l" t="t" r="r" b="b"/>
            <a:pathLst>
              <a:path w="4437572" h="1019175">
                <a:moveTo>
                  <a:pt x="35943" y="0"/>
                </a:moveTo>
                <a:lnTo>
                  <a:pt x="4361368" y="0"/>
                </a:lnTo>
                <a:cubicBezTo>
                  <a:pt x="4403454" y="0"/>
                  <a:pt x="4437572" y="34118"/>
                  <a:pt x="4437572" y="76204"/>
                </a:cubicBezTo>
                <a:lnTo>
                  <a:pt x="4437572" y="942971"/>
                </a:lnTo>
                <a:cubicBezTo>
                  <a:pt x="4437572" y="985057"/>
                  <a:pt x="4403454" y="1019175"/>
                  <a:pt x="4361368" y="1019175"/>
                </a:cubicBez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7371092" y="2349350"/>
            <a:ext cx="35943" cy="1019175"/>
          </a:xfrm>
          <a:custGeom>
            <a:avLst/>
            <a:gdLst/>
            <a:ahLst/>
            <a:cxnLst/>
            <a:rect l="l" t="t" r="r" b="b"/>
            <a:pathLst>
              <a:path w="35943" h="1019175">
                <a:moveTo>
                  <a:pt x="35943" y="0"/>
                </a:moveTo>
                <a:lnTo>
                  <a:pt x="35943" y="0"/>
                </a:lnTo>
                <a:lnTo>
                  <a:pt x="35943" y="1019175"/>
                </a:ln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9" name="Shape 16"/>
          <p:cNvSpPr/>
          <p:nvPr/>
        </p:nvSpPr>
        <p:spPr>
          <a:xfrm>
            <a:off x="7541374" y="25206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20" name="Shape 17"/>
          <p:cNvSpPr/>
          <p:nvPr/>
        </p:nvSpPr>
        <p:spPr>
          <a:xfrm>
            <a:off x="7646149" y="263487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E0E2E6"/>
          </a:solidFill>
        </p:spPr>
      </p:sp>
      <p:sp>
        <p:nvSpPr>
          <p:cNvPr id="21" name="Text 18"/>
          <p:cNvSpPr/>
          <p:nvPr/>
        </p:nvSpPr>
        <p:spPr>
          <a:xfrm>
            <a:off x="8036494" y="2501659"/>
            <a:ext cx="92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36494" y="2768203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Highest AOV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41374" y="2996780"/>
            <a:ext cx="41814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Show highest AOV (~₹100) but represent very small customer share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71092" y="3517960"/>
            <a:ext cx="4437572" cy="1019175"/>
          </a:xfrm>
          <a:custGeom>
            <a:avLst/>
            <a:gdLst/>
            <a:ahLst/>
            <a:cxnLst/>
            <a:rect l="l" t="t" r="r" b="b"/>
            <a:pathLst>
              <a:path w="4437572" h="1019175">
                <a:moveTo>
                  <a:pt x="35943" y="0"/>
                </a:moveTo>
                <a:lnTo>
                  <a:pt x="4361368" y="0"/>
                </a:lnTo>
                <a:cubicBezTo>
                  <a:pt x="4403454" y="0"/>
                  <a:pt x="4437572" y="34118"/>
                  <a:pt x="4437572" y="76204"/>
                </a:cubicBezTo>
                <a:lnTo>
                  <a:pt x="4437572" y="942971"/>
                </a:lnTo>
                <a:cubicBezTo>
                  <a:pt x="4437572" y="985057"/>
                  <a:pt x="4403454" y="1019175"/>
                  <a:pt x="4361368" y="1019175"/>
                </a:cubicBez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7371092" y="3517960"/>
            <a:ext cx="35943" cy="1019175"/>
          </a:xfrm>
          <a:custGeom>
            <a:avLst/>
            <a:gdLst/>
            <a:ahLst/>
            <a:cxnLst/>
            <a:rect l="l" t="t" r="r" b="b"/>
            <a:pathLst>
              <a:path w="35943" h="1019175">
                <a:moveTo>
                  <a:pt x="35943" y="0"/>
                </a:moveTo>
                <a:lnTo>
                  <a:pt x="35943" y="0"/>
                </a:lnTo>
                <a:lnTo>
                  <a:pt x="35943" y="1019175"/>
                </a:lnTo>
                <a:lnTo>
                  <a:pt x="35943" y="1019175"/>
                </a:lnTo>
                <a:cubicBezTo>
                  <a:pt x="16092" y="1019175"/>
                  <a:pt x="0" y="1003083"/>
                  <a:pt x="0" y="98323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6" name="Shape 23"/>
          <p:cNvSpPr/>
          <p:nvPr/>
        </p:nvSpPr>
        <p:spPr>
          <a:xfrm>
            <a:off x="7541374" y="36892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7" name="Shape 24"/>
          <p:cNvSpPr/>
          <p:nvPr/>
        </p:nvSpPr>
        <p:spPr>
          <a:xfrm>
            <a:off x="7655674" y="38034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28" name="Text 25"/>
          <p:cNvSpPr/>
          <p:nvPr/>
        </p:nvSpPr>
        <p:spPr>
          <a:xfrm>
            <a:off x="8036494" y="3670269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Loyal &amp; At-Risk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036494" y="3936813"/>
            <a:ext cx="1200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Moderate Revenue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41374" y="4165390"/>
            <a:ext cx="41814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Contribute moderate revenue levels with growth potential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56715" y="4690164"/>
            <a:ext cx="4445839" cy="1226389"/>
          </a:xfrm>
          <a:custGeom>
            <a:avLst/>
            <a:gdLst/>
            <a:ahLst/>
            <a:cxnLst/>
            <a:rect l="l" t="t" r="r" b="b"/>
            <a:pathLst>
              <a:path w="4445839" h="1226389">
                <a:moveTo>
                  <a:pt x="76196" y="0"/>
                </a:moveTo>
                <a:lnTo>
                  <a:pt x="4369643" y="0"/>
                </a:lnTo>
                <a:cubicBezTo>
                  <a:pt x="4411725" y="0"/>
                  <a:pt x="4445839" y="34114"/>
                  <a:pt x="4445839" y="76196"/>
                </a:cubicBezTo>
                <a:lnTo>
                  <a:pt x="4445839" y="1150193"/>
                </a:lnTo>
                <a:cubicBezTo>
                  <a:pt x="4445839" y="1192275"/>
                  <a:pt x="4411725" y="1226389"/>
                  <a:pt x="4369643" y="1226389"/>
                </a:cubicBezTo>
                <a:lnTo>
                  <a:pt x="76196" y="1226389"/>
                </a:lnTo>
                <a:cubicBezTo>
                  <a:pt x="34114" y="1226389"/>
                  <a:pt x="0" y="1192275"/>
                  <a:pt x="0" y="1150193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3569" y="48841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3" name="Text 30"/>
          <p:cNvSpPr/>
          <p:nvPr/>
        </p:nvSpPr>
        <p:spPr>
          <a:xfrm>
            <a:off x="7775006" y="4846067"/>
            <a:ext cx="3952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775006" y="5112723"/>
            <a:ext cx="394335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Revenue is currently volume-driven rather than loyalty-driven.</a:t>
            </a:r>
            <a:r>
              <a:rPr lang="en-US" sz="105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This indicates a strategic opportunity to shift toward value-based customer cultivation.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33243" y="5712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5067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/ Behavioral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51720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Average Order Value by Segment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2"/>
            <a:ext cx="5619750" cy="5295900"/>
          </a:xfrm>
          <a:custGeom>
            <a:avLst/>
            <a:gdLst/>
            <a:ahLst/>
            <a:cxnLst/>
            <a:rect l="l" t="t" r="r" b="b"/>
            <a:pathLst>
              <a:path w="5619750" h="5295900">
                <a:moveTo>
                  <a:pt x="76208" y="0"/>
                </a:moveTo>
                <a:lnTo>
                  <a:pt x="5543542" y="0"/>
                </a:lnTo>
                <a:cubicBezTo>
                  <a:pt x="5585602" y="0"/>
                  <a:pt x="5619750" y="34148"/>
                  <a:pt x="5619750" y="76208"/>
                </a:cubicBezTo>
                <a:lnTo>
                  <a:pt x="5619750" y="5219692"/>
                </a:lnTo>
                <a:cubicBezTo>
                  <a:pt x="5619750" y="5261781"/>
                  <a:pt x="5585631" y="5295900"/>
                  <a:pt x="554354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8413" y="1371128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AOV Comparison Across RFM Segments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938" y="1675749"/>
            <a:ext cx="530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order value in Indian Rupees (₹)</a:t>
            </a:r>
            <a:endParaRPr lang="en-US" sz="1600" dirty="0"/>
          </a:p>
        </p:txBody>
      </p:sp>
      <p:pic>
        <p:nvPicPr>
          <p:cNvPr id="9" name="Image 0" descr="https://kimi-img.moonshot.cn/pub/slides/26-02-15-19:17:44-d68qmm6dmaujjorrgkh0.png"/>
          <p:cNvPicPr>
            <a:picLocks noChangeAspect="1"/>
          </p:cNvPicPr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571275" y="2018447"/>
            <a:ext cx="523875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6191138" y="1180742"/>
            <a:ext cx="5619750" cy="2428875"/>
          </a:xfrm>
          <a:custGeom>
            <a:avLst/>
            <a:gdLst/>
            <a:ahLst/>
            <a:cxnLst/>
            <a:rect l="l" t="t" r="r" b="b"/>
            <a:pathLst>
              <a:path w="5619750" h="2428875">
                <a:moveTo>
                  <a:pt x="76194" y="0"/>
                </a:moveTo>
                <a:lnTo>
                  <a:pt x="5543556" y="0"/>
                </a:lnTo>
                <a:cubicBezTo>
                  <a:pt x="5585637" y="0"/>
                  <a:pt x="5619750" y="34113"/>
                  <a:pt x="5619750" y="76194"/>
                </a:cubicBezTo>
                <a:lnTo>
                  <a:pt x="5619750" y="2352681"/>
                </a:lnTo>
                <a:cubicBezTo>
                  <a:pt x="5619750" y="2394762"/>
                  <a:pt x="5585637" y="2428875"/>
                  <a:pt x="5543556" y="2428875"/>
                </a:cubicBezTo>
                <a:lnTo>
                  <a:pt x="76194" y="2428875"/>
                </a:lnTo>
                <a:cubicBezTo>
                  <a:pt x="34113" y="2428875"/>
                  <a:pt x="0" y="2394762"/>
                  <a:pt x="0" y="23526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6381526" y="1371128"/>
            <a:ext cx="533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81526" y="179009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3" name="Text 10"/>
          <p:cNvSpPr/>
          <p:nvPr/>
        </p:nvSpPr>
        <p:spPr>
          <a:xfrm>
            <a:off x="6335832" y="1832888"/>
            <a:ext cx="628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₹100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69170" y="2137621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50" b="1" dirty="0">
                <a:solidFill>
                  <a:srgbClr val="1A1D2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AOV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67146" y="1790093"/>
            <a:ext cx="4638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Champions Lead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67146" y="2094714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Champions have the highest AOV at approximately ₹100, significantly outperforming other segments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81526" y="26801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18" name="Text 15"/>
          <p:cNvSpPr/>
          <p:nvPr/>
        </p:nvSpPr>
        <p:spPr>
          <a:xfrm>
            <a:off x="6325611" y="2722936"/>
            <a:ext cx="64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~₹60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8948" y="3027671"/>
            <a:ext cx="581025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Avg AOV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67146" y="2680143"/>
            <a:ext cx="4638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Other Segments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67146" y="2984762"/>
            <a:ext cx="46196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Other segments show lower and relatively similar AOV levels, indicating standardization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4732" y="3764174"/>
            <a:ext cx="5617414" cy="1474039"/>
          </a:xfrm>
          <a:custGeom>
            <a:avLst/>
            <a:gdLst/>
            <a:ahLst/>
            <a:cxnLst/>
            <a:rect l="l" t="t" r="r" b="b"/>
            <a:pathLst>
              <a:path w="5617414" h="1474039">
                <a:moveTo>
                  <a:pt x="76193" y="0"/>
                </a:moveTo>
                <a:lnTo>
                  <a:pt x="5541221" y="0"/>
                </a:lnTo>
                <a:cubicBezTo>
                  <a:pt x="5583301" y="0"/>
                  <a:pt x="5617414" y="34113"/>
                  <a:pt x="5617414" y="76193"/>
                </a:cubicBezTo>
                <a:lnTo>
                  <a:pt x="5617414" y="1397846"/>
                </a:lnTo>
                <a:cubicBezTo>
                  <a:pt x="5617414" y="1439926"/>
                  <a:pt x="5583301" y="1474039"/>
                  <a:pt x="5541221" y="1474039"/>
                </a:cubicBezTo>
                <a:lnTo>
                  <a:pt x="76193" y="1474039"/>
                </a:lnTo>
                <a:cubicBezTo>
                  <a:pt x="34113" y="1474039"/>
                  <a:pt x="0" y="1439926"/>
                  <a:pt x="0" y="1397846"/>
                </a:cubicBezTo>
                <a:lnTo>
                  <a:pt x="0" y="76193"/>
                </a:lnTo>
                <a:cubicBezTo>
                  <a:pt x="0" y="34113"/>
                  <a:pt x="34113" y="0"/>
                  <a:pt x="76193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93477" y="399623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4" name="Text 21"/>
          <p:cNvSpPr/>
          <p:nvPr/>
        </p:nvSpPr>
        <p:spPr>
          <a:xfrm>
            <a:off x="6680867" y="3958154"/>
            <a:ext cx="501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Strategic Insight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80867" y="4300854"/>
            <a:ext cx="50101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Expanding the Champion segment could significantly increase profitability.</a:t>
            </a:r>
            <a:r>
              <a:rPr lang="en-US" sz="120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The 67% AOV premium suggests strong potential for premium customer cultivation strategies.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1138" y="5393754"/>
            <a:ext cx="2752725" cy="762000"/>
          </a:xfrm>
          <a:custGeom>
            <a:avLst/>
            <a:gdLst/>
            <a:ahLst/>
            <a:cxnLst/>
            <a:rect l="l" t="t" r="r" b="b"/>
            <a:pathLst>
              <a:path w="2752725" h="762000">
                <a:moveTo>
                  <a:pt x="76200" y="0"/>
                </a:moveTo>
                <a:lnTo>
                  <a:pt x="2676525" y="0"/>
                </a:lnTo>
                <a:cubicBezTo>
                  <a:pt x="2718581" y="0"/>
                  <a:pt x="2752725" y="34144"/>
                  <a:pt x="2752725" y="76200"/>
                </a:cubicBezTo>
                <a:lnTo>
                  <a:pt x="2752725" y="685800"/>
                </a:lnTo>
                <a:cubicBezTo>
                  <a:pt x="2752725" y="727856"/>
                  <a:pt x="2718581" y="762000"/>
                  <a:pt x="26765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6233933" y="5507989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67%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76795" y="5888878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AOV Premium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58185" y="5393754"/>
            <a:ext cx="2752725" cy="762000"/>
          </a:xfrm>
          <a:custGeom>
            <a:avLst/>
            <a:gdLst/>
            <a:ahLst/>
            <a:cxnLst/>
            <a:rect l="l" t="t" r="r" b="b"/>
            <a:pathLst>
              <a:path w="2752725" h="762000">
                <a:moveTo>
                  <a:pt x="76200" y="0"/>
                </a:moveTo>
                <a:lnTo>
                  <a:pt x="2676525" y="0"/>
                </a:lnTo>
                <a:cubicBezTo>
                  <a:pt x="2718581" y="0"/>
                  <a:pt x="2752725" y="34144"/>
                  <a:pt x="2752725" y="76200"/>
                </a:cubicBezTo>
                <a:lnTo>
                  <a:pt x="2752725" y="685800"/>
                </a:lnTo>
                <a:cubicBezTo>
                  <a:pt x="2752725" y="727856"/>
                  <a:pt x="2718581" y="762000"/>
                  <a:pt x="26765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9100981" y="5507989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43843" y="5888878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 Share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33243" y="5712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6858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 / Behavioral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6962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Purchase Frequency &amp; Subscription Behavior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2"/>
            <a:ext cx="5619750" cy="4638675"/>
          </a:xfrm>
          <a:custGeom>
            <a:avLst/>
            <a:gdLst/>
            <a:ahLst/>
            <a:cxnLst/>
            <a:rect l="l" t="t" r="r" b="b"/>
            <a:pathLst>
              <a:path w="5619750" h="4638675">
                <a:moveTo>
                  <a:pt x="76213" y="0"/>
                </a:moveTo>
                <a:lnTo>
                  <a:pt x="5543537" y="0"/>
                </a:lnTo>
                <a:cubicBezTo>
                  <a:pt x="5585628" y="0"/>
                  <a:pt x="5619750" y="34122"/>
                  <a:pt x="5619750" y="76213"/>
                </a:cubicBezTo>
                <a:lnTo>
                  <a:pt x="5619750" y="4562462"/>
                </a:lnTo>
                <a:cubicBezTo>
                  <a:pt x="5619750" y="4604553"/>
                  <a:pt x="5585628" y="4638675"/>
                  <a:pt x="5543537" y="4638675"/>
                </a:cubicBezTo>
                <a:lnTo>
                  <a:pt x="76213" y="4638675"/>
                </a:lnTo>
                <a:cubicBezTo>
                  <a:pt x="34122" y="4638675"/>
                  <a:pt x="0" y="4604553"/>
                  <a:pt x="0" y="4562462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8413" y="1371126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Purchase Frequency vs Customer Spend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938" y="1675749"/>
            <a:ext cx="530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AOV stability across frequency levels</a:t>
            </a:r>
            <a:endParaRPr lang="en-US" sz="1600" dirty="0"/>
          </a:p>
        </p:txBody>
      </p:sp>
      <p:pic>
        <p:nvPicPr>
          <p:cNvPr id="9" name="Image 0" descr="https://kimi-img.moonshot.cn/pub/slides/26-02-15-19:17:45-d68qmmc2sn113kc4ncpg.png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571275" y="1980367"/>
            <a:ext cx="5238750" cy="28575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574870" y="4955580"/>
            <a:ext cx="5236414" cy="664414"/>
          </a:xfrm>
          <a:custGeom>
            <a:avLst/>
            <a:gdLst/>
            <a:ahLst/>
            <a:cxnLst/>
            <a:rect l="l" t="t" r="r" b="b"/>
            <a:pathLst>
              <a:path w="5236414" h="664414">
                <a:moveTo>
                  <a:pt x="76202" y="0"/>
                </a:moveTo>
                <a:lnTo>
                  <a:pt x="5160212" y="0"/>
                </a:lnTo>
                <a:cubicBezTo>
                  <a:pt x="5202297" y="0"/>
                  <a:pt x="5236414" y="34117"/>
                  <a:pt x="5236414" y="76202"/>
                </a:cubicBezTo>
                <a:lnTo>
                  <a:pt x="5236414" y="588212"/>
                </a:lnTo>
                <a:cubicBezTo>
                  <a:pt x="5236414" y="630297"/>
                  <a:pt x="5202297" y="664414"/>
                  <a:pt x="5160212" y="664414"/>
                </a:cubicBezTo>
                <a:lnTo>
                  <a:pt x="76202" y="664414"/>
                </a:lnTo>
                <a:cubicBezTo>
                  <a:pt x="34117" y="664414"/>
                  <a:pt x="0" y="630297"/>
                  <a:pt x="0" y="588212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3172" y="5111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2" name="Text 9"/>
          <p:cNvSpPr/>
          <p:nvPr/>
        </p:nvSpPr>
        <p:spPr>
          <a:xfrm>
            <a:off x="898136" y="5073411"/>
            <a:ext cx="4857750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Insight:</a:t>
            </a:r>
            <a:r>
              <a:rPr lang="en-US" sz="105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Weekly buyers do not show significantly higher AOV. Spend levels remain relatively stable across frequency levels.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1138" y="1180742"/>
            <a:ext cx="5619750" cy="4638675"/>
          </a:xfrm>
          <a:custGeom>
            <a:avLst/>
            <a:gdLst/>
            <a:ahLst/>
            <a:cxnLst/>
            <a:rect l="l" t="t" r="r" b="b"/>
            <a:pathLst>
              <a:path w="5619750" h="4638675">
                <a:moveTo>
                  <a:pt x="76213" y="0"/>
                </a:moveTo>
                <a:lnTo>
                  <a:pt x="5543537" y="0"/>
                </a:lnTo>
                <a:cubicBezTo>
                  <a:pt x="5585628" y="0"/>
                  <a:pt x="5619750" y="34122"/>
                  <a:pt x="5619750" y="76213"/>
                </a:cubicBezTo>
                <a:lnTo>
                  <a:pt x="5619750" y="4562462"/>
                </a:lnTo>
                <a:cubicBezTo>
                  <a:pt x="5619750" y="4604553"/>
                  <a:pt x="5585628" y="4638675"/>
                  <a:pt x="5543537" y="4638675"/>
                </a:cubicBezTo>
                <a:lnTo>
                  <a:pt x="76213" y="4638675"/>
                </a:lnTo>
                <a:cubicBezTo>
                  <a:pt x="34122" y="4638675"/>
                  <a:pt x="0" y="4604553"/>
                  <a:pt x="0" y="4562462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6338663" y="1371126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Subscription Status Distribution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48188" y="1675749"/>
            <a:ext cx="530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engagement through subscriptions</a:t>
            </a:r>
            <a:endParaRPr lang="en-US" sz="1600" dirty="0"/>
          </a:p>
        </p:txBody>
      </p:sp>
      <p:pic>
        <p:nvPicPr>
          <p:cNvPr id="16" name="Image 1" descr="https://kimi-img.moonshot.cn/pub/slides/26-02-15-19:17:45-d68qmm8u8ldc2t73lq7g.png"/>
          <p:cNvPicPr>
            <a:picLocks noChangeAspect="1"/>
          </p:cNvPicPr>
          <p:nvPr/>
        </p:nvPicPr>
        <p:blipFill>
          <a:blip r:embed="rId2"/>
          <a:srcRect l="11" r="11"/>
          <a:stretch>
            <a:fillRect/>
          </a:stretch>
        </p:blipFill>
        <p:spPr>
          <a:xfrm>
            <a:off x="6381526" y="1980367"/>
            <a:ext cx="5238750" cy="2857500"/>
          </a:xfrm>
          <a:prstGeom prst="roundRect">
            <a:avLst>
              <a:gd name="adj" fmla="val 0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6385120" y="4955580"/>
            <a:ext cx="5236414" cy="664414"/>
          </a:xfrm>
          <a:custGeom>
            <a:avLst/>
            <a:gdLst/>
            <a:ahLst/>
            <a:cxnLst/>
            <a:rect l="l" t="t" r="r" b="b"/>
            <a:pathLst>
              <a:path w="5236414" h="664414">
                <a:moveTo>
                  <a:pt x="76202" y="0"/>
                </a:moveTo>
                <a:lnTo>
                  <a:pt x="5160212" y="0"/>
                </a:lnTo>
                <a:cubicBezTo>
                  <a:pt x="5202297" y="0"/>
                  <a:pt x="5236414" y="34117"/>
                  <a:pt x="5236414" y="76202"/>
                </a:cubicBezTo>
                <a:lnTo>
                  <a:pt x="5236414" y="588212"/>
                </a:lnTo>
                <a:cubicBezTo>
                  <a:pt x="5236414" y="630297"/>
                  <a:pt x="5202297" y="664414"/>
                  <a:pt x="5160212" y="664414"/>
                </a:cubicBezTo>
                <a:lnTo>
                  <a:pt x="76202" y="664414"/>
                </a:lnTo>
                <a:cubicBezTo>
                  <a:pt x="34117" y="664414"/>
                  <a:pt x="0" y="630297"/>
                  <a:pt x="0" y="588212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8184" y="5111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9" name="Text 15"/>
          <p:cNvSpPr/>
          <p:nvPr/>
        </p:nvSpPr>
        <p:spPr>
          <a:xfrm>
            <a:off x="6721640" y="5073411"/>
            <a:ext cx="48482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Insight:</a:t>
            </a:r>
            <a:r>
              <a:rPr lang="en-US" sz="105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Subscribed users show stronger repeat behavior indicators. Majority of customers are non-subscribers.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98859" y="5970645"/>
            <a:ext cx="5618672" cy="723900"/>
          </a:xfrm>
          <a:custGeom>
            <a:avLst/>
            <a:gdLst/>
            <a:ahLst/>
            <a:cxnLst/>
            <a:rect l="l" t="t" r="r" b="b"/>
            <a:pathLst>
              <a:path w="5618672" h="723900">
                <a:moveTo>
                  <a:pt x="0" y="0"/>
                </a:moveTo>
                <a:lnTo>
                  <a:pt x="5542474" y="0"/>
                </a:lnTo>
                <a:cubicBezTo>
                  <a:pt x="5584529" y="0"/>
                  <a:pt x="5618672" y="34143"/>
                  <a:pt x="5618672" y="76198"/>
                </a:cubicBezTo>
                <a:lnTo>
                  <a:pt x="5618672" y="647702"/>
                </a:lnTo>
                <a:cubicBezTo>
                  <a:pt x="5618672" y="689757"/>
                  <a:pt x="5584529" y="723900"/>
                  <a:pt x="5542474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14902"/>
            </a:srgbClr>
          </a:solidFill>
        </p:spPr>
      </p:sp>
      <p:sp>
        <p:nvSpPr>
          <p:cNvPr id="21" name="Shape 17"/>
          <p:cNvSpPr/>
          <p:nvPr/>
        </p:nvSpPr>
        <p:spPr>
          <a:xfrm>
            <a:off x="398859" y="5970645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0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2" name="Shape 18"/>
          <p:cNvSpPr/>
          <p:nvPr/>
        </p:nvSpPr>
        <p:spPr>
          <a:xfrm>
            <a:off x="592954" y="62371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3" name="Text 19"/>
          <p:cNvSpPr/>
          <p:nvPr/>
        </p:nvSpPr>
        <p:spPr>
          <a:xfrm>
            <a:off x="921386" y="6122956"/>
            <a:ext cx="3800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Critical Finding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21386" y="6351533"/>
            <a:ext cx="3790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Increased frequency does not automatically increase order value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190015" y="5970645"/>
            <a:ext cx="5618672" cy="723900"/>
          </a:xfrm>
          <a:custGeom>
            <a:avLst/>
            <a:gdLst/>
            <a:ahLst/>
            <a:cxnLst/>
            <a:rect l="l" t="t" r="r" b="b"/>
            <a:pathLst>
              <a:path w="5618672" h="723900">
                <a:moveTo>
                  <a:pt x="0" y="0"/>
                </a:moveTo>
                <a:lnTo>
                  <a:pt x="5542474" y="0"/>
                </a:lnTo>
                <a:cubicBezTo>
                  <a:pt x="5584529" y="0"/>
                  <a:pt x="5618672" y="34143"/>
                  <a:pt x="5618672" y="76198"/>
                </a:cubicBezTo>
                <a:lnTo>
                  <a:pt x="5618672" y="647702"/>
                </a:lnTo>
                <a:cubicBezTo>
                  <a:pt x="5618672" y="689757"/>
                  <a:pt x="5584529" y="723900"/>
                  <a:pt x="5542474" y="723900"/>
                </a:cubicBez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6" name="Shape 22"/>
          <p:cNvSpPr/>
          <p:nvPr/>
        </p:nvSpPr>
        <p:spPr>
          <a:xfrm>
            <a:off x="6190015" y="5970645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0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</p:spPr>
      </p:sp>
      <p:sp>
        <p:nvSpPr>
          <p:cNvPr id="27" name="Shape 23"/>
          <p:cNvSpPr/>
          <p:nvPr/>
        </p:nvSpPr>
        <p:spPr>
          <a:xfrm>
            <a:off x="6384109" y="623719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28" name="Text 24"/>
          <p:cNvSpPr/>
          <p:nvPr/>
        </p:nvSpPr>
        <p:spPr>
          <a:xfrm>
            <a:off x="6712541" y="6122956"/>
            <a:ext cx="3705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Growth Opportunity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712541" y="6351533"/>
            <a:ext cx="3695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Subscription adoption remains a significant growth opportunity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18955" y="57127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4"/>
            <a:ext cx="642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 / Behavioral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49"/>
            <a:ext cx="65341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Discount Impact on Customer Satisfaction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37"/>
            <a:ext cx="6781800" cy="5295900"/>
          </a:xfrm>
          <a:custGeom>
            <a:avLst/>
            <a:gdLst/>
            <a:ahLst/>
            <a:cxnLst/>
            <a:rect l="l" t="t" r="r" b="b"/>
            <a:pathLst>
              <a:path w="6781800" h="5295900">
                <a:moveTo>
                  <a:pt x="76208" y="0"/>
                </a:moveTo>
                <a:lnTo>
                  <a:pt x="6705592" y="0"/>
                </a:lnTo>
                <a:cubicBezTo>
                  <a:pt x="6747652" y="0"/>
                  <a:pt x="6781800" y="34148"/>
                  <a:pt x="6781800" y="76208"/>
                </a:cubicBezTo>
                <a:lnTo>
                  <a:pt x="6781800" y="5219692"/>
                </a:lnTo>
                <a:cubicBezTo>
                  <a:pt x="6781800" y="5261781"/>
                  <a:pt x="6747681" y="5295900"/>
                  <a:pt x="670559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28413" y="1371126"/>
            <a:ext cx="648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 Rating: Discount vs No Discount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938" y="1675744"/>
            <a:ext cx="6467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satisfaction comparison by discount application</a:t>
            </a:r>
            <a:endParaRPr lang="en-US" sz="1600" dirty="0"/>
          </a:p>
        </p:txBody>
      </p:sp>
      <p:pic>
        <p:nvPicPr>
          <p:cNvPr id="9" name="Image 0" descr="https://kimi-img.moonshot.cn/pub/slides/26-02-15-19:17:45-d68qmmdr1r8km3caev6g.png"/>
          <p:cNvPicPr>
            <a:picLocks noChangeAspect="1"/>
          </p:cNvPicPr>
          <p:nvPr/>
        </p:nvPicPr>
        <p:blipFill>
          <a:blip r:embed="rId1"/>
          <a:srcRect l="82" r="82"/>
          <a:stretch>
            <a:fillRect/>
          </a:stretch>
        </p:blipFill>
        <p:spPr>
          <a:xfrm>
            <a:off x="571275" y="2018444"/>
            <a:ext cx="6400800" cy="34290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353120" y="1180737"/>
            <a:ext cx="4457700" cy="2400300"/>
          </a:xfrm>
          <a:custGeom>
            <a:avLst/>
            <a:gdLst/>
            <a:ahLst/>
            <a:cxnLst/>
            <a:rect l="l" t="t" r="r" b="b"/>
            <a:pathLst>
              <a:path w="4457700" h="2400300">
                <a:moveTo>
                  <a:pt x="76210" y="0"/>
                </a:moveTo>
                <a:lnTo>
                  <a:pt x="4381490" y="0"/>
                </a:lnTo>
                <a:cubicBezTo>
                  <a:pt x="4423580" y="0"/>
                  <a:pt x="4457700" y="34120"/>
                  <a:pt x="4457700" y="76210"/>
                </a:cubicBezTo>
                <a:lnTo>
                  <a:pt x="4457700" y="2324090"/>
                </a:lnTo>
                <a:cubicBezTo>
                  <a:pt x="4457700" y="2366180"/>
                  <a:pt x="4423580" y="2400300"/>
                  <a:pt x="4381490" y="2400300"/>
                </a:cubicBezTo>
                <a:lnTo>
                  <a:pt x="76210" y="2400300"/>
                </a:lnTo>
                <a:cubicBezTo>
                  <a:pt x="34120" y="2400300"/>
                  <a:pt x="0" y="2366180"/>
                  <a:pt x="0" y="23240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7543508" y="1371126"/>
            <a:ext cx="4171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Analysis Results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43508" y="1790091"/>
            <a:ext cx="4076700" cy="723900"/>
          </a:xfrm>
          <a:custGeom>
            <a:avLst/>
            <a:gdLst/>
            <a:ahLst/>
            <a:cxnLst/>
            <a:rect l="l" t="t" r="r" b="b"/>
            <a:pathLst>
              <a:path w="4076700" h="723900">
                <a:moveTo>
                  <a:pt x="76198" y="0"/>
                </a:moveTo>
                <a:lnTo>
                  <a:pt x="4000502" y="0"/>
                </a:lnTo>
                <a:cubicBezTo>
                  <a:pt x="4042557" y="0"/>
                  <a:pt x="4076700" y="34143"/>
                  <a:pt x="4076700" y="76198"/>
                </a:cubicBezTo>
                <a:lnTo>
                  <a:pt x="4076700" y="647702"/>
                </a:lnTo>
                <a:cubicBezTo>
                  <a:pt x="4076700" y="689757"/>
                  <a:pt x="4042557" y="723900"/>
                  <a:pt x="4000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13A">
              <a:alpha val="6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657741" y="19233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4" name="Shape 11"/>
          <p:cNvSpPr/>
          <p:nvPr/>
        </p:nvSpPr>
        <p:spPr>
          <a:xfrm>
            <a:off x="7802974" y="205663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15" name="Text 12"/>
          <p:cNvSpPr/>
          <p:nvPr/>
        </p:nvSpPr>
        <p:spPr>
          <a:xfrm>
            <a:off x="8229129" y="1942402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With Discount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129" y="2170979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 Applied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37495" y="1904326"/>
            <a:ext cx="6667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3.8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23220" y="2247133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Avg Rating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43508" y="2666098"/>
            <a:ext cx="4076700" cy="723900"/>
          </a:xfrm>
          <a:custGeom>
            <a:avLst/>
            <a:gdLst/>
            <a:ahLst/>
            <a:cxnLst/>
            <a:rect l="l" t="t" r="r" b="b"/>
            <a:pathLst>
              <a:path w="4076700" h="723900">
                <a:moveTo>
                  <a:pt x="76198" y="0"/>
                </a:moveTo>
                <a:lnTo>
                  <a:pt x="4000502" y="0"/>
                </a:lnTo>
                <a:cubicBezTo>
                  <a:pt x="4042557" y="0"/>
                  <a:pt x="4076700" y="34143"/>
                  <a:pt x="4076700" y="76198"/>
                </a:cubicBezTo>
                <a:lnTo>
                  <a:pt x="4076700" y="647702"/>
                </a:lnTo>
                <a:cubicBezTo>
                  <a:pt x="4076700" y="689757"/>
                  <a:pt x="4042557" y="723900"/>
                  <a:pt x="4000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2D313A">
              <a:alpha val="6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7657741" y="27993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1" name="Shape 18"/>
          <p:cNvSpPr/>
          <p:nvPr/>
        </p:nvSpPr>
        <p:spPr>
          <a:xfrm>
            <a:off x="7814881" y="29326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E0E2E6"/>
          </a:solidFill>
        </p:spPr>
      </p:sp>
      <p:sp>
        <p:nvSpPr>
          <p:cNvPr id="22" name="Text 19"/>
          <p:cNvSpPr/>
          <p:nvPr/>
        </p:nvSpPr>
        <p:spPr>
          <a:xfrm>
            <a:off x="8229129" y="2818409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Discount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29129" y="3046986"/>
            <a:ext cx="885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Full Price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837495" y="2780333"/>
            <a:ext cx="6667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5E7A9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3.7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23220" y="3123144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Avg Rating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56715" y="3736087"/>
            <a:ext cx="4445839" cy="1721689"/>
          </a:xfrm>
          <a:custGeom>
            <a:avLst/>
            <a:gdLst/>
            <a:ahLst/>
            <a:cxnLst/>
            <a:rect l="l" t="t" r="r" b="b"/>
            <a:pathLst>
              <a:path w="4445839" h="1721689">
                <a:moveTo>
                  <a:pt x="76202" y="0"/>
                </a:moveTo>
                <a:lnTo>
                  <a:pt x="4369637" y="0"/>
                </a:lnTo>
                <a:cubicBezTo>
                  <a:pt x="4411722" y="0"/>
                  <a:pt x="4445839" y="34117"/>
                  <a:pt x="4445839" y="76202"/>
                </a:cubicBezTo>
                <a:lnTo>
                  <a:pt x="4445839" y="1645487"/>
                </a:lnTo>
                <a:cubicBezTo>
                  <a:pt x="4445839" y="1687572"/>
                  <a:pt x="4411722" y="1721689"/>
                  <a:pt x="4369637" y="1721689"/>
                </a:cubicBezTo>
                <a:lnTo>
                  <a:pt x="76202" y="1721689"/>
                </a:lnTo>
                <a:cubicBezTo>
                  <a:pt x="34117" y="1721689"/>
                  <a:pt x="0" y="1687572"/>
                  <a:pt x="0" y="1645487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55459" y="396814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8" name="Text 25"/>
          <p:cNvSpPr/>
          <p:nvPr/>
        </p:nvSpPr>
        <p:spPr>
          <a:xfrm>
            <a:off x="7842849" y="3930072"/>
            <a:ext cx="3857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Critical Insight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842849" y="4272767"/>
            <a:ext cx="38481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Discounts do not significantly influence customer satisfaction.</a:t>
            </a:r>
            <a:r>
              <a:rPr lang="en-US" sz="120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The 0.1 rating difference challenges the assumption that price reductions drive positive customer perception.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353120" y="5613346"/>
            <a:ext cx="2171700" cy="762000"/>
          </a:xfrm>
          <a:custGeom>
            <a:avLst/>
            <a:gdLst/>
            <a:ahLst/>
            <a:cxnLst/>
            <a:rect l="l" t="t" r="r" b="b"/>
            <a:pathLst>
              <a:path w="2171700" h="762000">
                <a:moveTo>
                  <a:pt x="76200" y="0"/>
                </a:moveTo>
                <a:lnTo>
                  <a:pt x="2095500" y="0"/>
                </a:lnTo>
                <a:cubicBezTo>
                  <a:pt x="2137556" y="0"/>
                  <a:pt x="2171700" y="34144"/>
                  <a:pt x="2171700" y="76200"/>
                </a:cubicBezTo>
                <a:lnTo>
                  <a:pt x="2171700" y="685800"/>
                </a:lnTo>
                <a:cubicBezTo>
                  <a:pt x="2171700" y="727856"/>
                  <a:pt x="2137556" y="762000"/>
                  <a:pt x="2095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7395915" y="5727576"/>
            <a:ext cx="2085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438778" y="6108464"/>
            <a:ext cx="2000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Rating Difference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639120" y="5613346"/>
            <a:ext cx="2171700" cy="762000"/>
          </a:xfrm>
          <a:custGeom>
            <a:avLst/>
            <a:gdLst/>
            <a:ahLst/>
            <a:cxnLst/>
            <a:rect l="l" t="t" r="r" b="b"/>
            <a:pathLst>
              <a:path w="2171700" h="762000">
                <a:moveTo>
                  <a:pt x="76200" y="0"/>
                </a:moveTo>
                <a:lnTo>
                  <a:pt x="2095500" y="0"/>
                </a:lnTo>
                <a:cubicBezTo>
                  <a:pt x="2137556" y="0"/>
                  <a:pt x="2171700" y="34144"/>
                  <a:pt x="2171700" y="76200"/>
                </a:cubicBezTo>
                <a:lnTo>
                  <a:pt x="2171700" y="685800"/>
                </a:lnTo>
                <a:cubicBezTo>
                  <a:pt x="2171700" y="727856"/>
                  <a:pt x="2137556" y="762000"/>
                  <a:pt x="2095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9681915" y="5727576"/>
            <a:ext cx="20859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5A06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2.7%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724778" y="6108464"/>
            <a:ext cx="20002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 Margin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33243" y="57127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 / Dashboard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43434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Power BI Dashboard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2"/>
            <a:ext cx="5619750" cy="3886200"/>
          </a:xfrm>
          <a:custGeom>
            <a:avLst/>
            <a:gdLst/>
            <a:ahLst/>
            <a:cxnLst/>
            <a:rect l="l" t="t" r="r" b="b"/>
            <a:pathLst>
              <a:path w="5619750" h="3886200">
                <a:moveTo>
                  <a:pt x="76208" y="0"/>
                </a:moveTo>
                <a:lnTo>
                  <a:pt x="5543542" y="0"/>
                </a:lnTo>
                <a:cubicBezTo>
                  <a:pt x="5585630" y="0"/>
                  <a:pt x="5619750" y="34120"/>
                  <a:pt x="5619750" y="76208"/>
                </a:cubicBezTo>
                <a:lnTo>
                  <a:pt x="5619750" y="3809992"/>
                </a:lnTo>
                <a:cubicBezTo>
                  <a:pt x="5619750" y="3852080"/>
                  <a:pt x="5585630" y="3886200"/>
                  <a:pt x="5543542" y="3886200"/>
                </a:cubicBezTo>
                <a:lnTo>
                  <a:pt x="76208" y="3886200"/>
                </a:lnTo>
                <a:cubicBezTo>
                  <a:pt x="34120" y="3886200"/>
                  <a:pt x="0" y="3852080"/>
                  <a:pt x="0" y="38099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571275" y="1371130"/>
            <a:ext cx="533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275" y="1790095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85508" y="19043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0" name="Text 8"/>
          <p:cNvSpPr/>
          <p:nvPr/>
        </p:nvSpPr>
        <p:spPr>
          <a:xfrm>
            <a:off x="796820" y="1980484"/>
            <a:ext cx="238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8706" y="1904326"/>
            <a:ext cx="2828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Overview Page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8706" y="2170984"/>
            <a:ext cx="2819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High-level KPIs and executive summary metrics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275" y="2589837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85508" y="270406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5" name="Text 13"/>
          <p:cNvSpPr/>
          <p:nvPr/>
        </p:nvSpPr>
        <p:spPr>
          <a:xfrm>
            <a:off x="783004" y="2780221"/>
            <a:ext cx="26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8706" y="2704068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8706" y="2970721"/>
            <a:ext cx="2790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Detailed behavioral patterns and demographics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275" y="3389574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85508" y="350380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0" name="Text 18"/>
          <p:cNvSpPr/>
          <p:nvPr/>
        </p:nvSpPr>
        <p:spPr>
          <a:xfrm>
            <a:off x="782331" y="3579963"/>
            <a:ext cx="26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8706" y="3503809"/>
            <a:ext cx="2695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RFM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8706" y="3770463"/>
            <a:ext cx="2686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Segment performance and customer lifecycle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275" y="4189316"/>
            <a:ext cx="5238750" cy="685800"/>
          </a:xfrm>
          <a:custGeom>
            <a:avLst/>
            <a:gdLst/>
            <a:ahLst/>
            <a:cxnLst/>
            <a:rect l="l" t="t" r="r" b="b"/>
            <a:pathLst>
              <a:path w="5238750" h="6858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609601"/>
                </a:lnTo>
                <a:cubicBezTo>
                  <a:pt x="5238750" y="651684"/>
                  <a:pt x="5204634" y="685800"/>
                  <a:pt x="51625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85508" y="430355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25" name="Text 23"/>
          <p:cNvSpPr/>
          <p:nvPr/>
        </p:nvSpPr>
        <p:spPr>
          <a:xfrm>
            <a:off x="782443" y="4379705"/>
            <a:ext cx="26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8706" y="4303551"/>
            <a:ext cx="2638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8706" y="4570205"/>
            <a:ext cx="2628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Strategic recommendations and action items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482" y="5221118"/>
            <a:ext cx="5617414" cy="1007314"/>
          </a:xfrm>
          <a:custGeom>
            <a:avLst/>
            <a:gdLst/>
            <a:ahLst/>
            <a:cxnLst/>
            <a:rect l="l" t="t" r="r" b="b"/>
            <a:pathLst>
              <a:path w="5617414" h="1007314">
                <a:moveTo>
                  <a:pt x="76203" y="0"/>
                </a:moveTo>
                <a:lnTo>
                  <a:pt x="5541210" y="0"/>
                </a:lnTo>
                <a:cubicBezTo>
                  <a:pt x="5583296" y="0"/>
                  <a:pt x="5617414" y="34117"/>
                  <a:pt x="5617414" y="76203"/>
                </a:cubicBezTo>
                <a:lnTo>
                  <a:pt x="5617414" y="931110"/>
                </a:lnTo>
                <a:cubicBezTo>
                  <a:pt x="5617414" y="973196"/>
                  <a:pt x="5583296" y="1007314"/>
                  <a:pt x="5541210" y="1007314"/>
                </a:cubicBezTo>
                <a:lnTo>
                  <a:pt x="76203" y="1007314"/>
                </a:lnTo>
                <a:cubicBezTo>
                  <a:pt x="34146" y="1007314"/>
                  <a:pt x="0" y="973168"/>
                  <a:pt x="0" y="931110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624" y="54150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0" name="Text 28"/>
          <p:cNvSpPr/>
          <p:nvPr/>
        </p:nvSpPr>
        <p:spPr>
          <a:xfrm>
            <a:off x="835235" y="5377021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Philosophy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5235" y="5643674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Create a </a:t>
            </a: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decision-support dashboard</a:t>
            </a:r>
            <a:r>
              <a:rPr lang="en-US" sz="1050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rather than a static academic report, enabling real-time business intelligence.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138" y="1180742"/>
            <a:ext cx="5619750" cy="2895600"/>
          </a:xfrm>
          <a:custGeom>
            <a:avLst/>
            <a:gdLst/>
            <a:ahLst/>
            <a:cxnLst/>
            <a:rect l="l" t="t" r="r" b="b"/>
            <a:pathLst>
              <a:path w="5619750" h="2895600">
                <a:moveTo>
                  <a:pt x="76212" y="0"/>
                </a:moveTo>
                <a:lnTo>
                  <a:pt x="5543538" y="0"/>
                </a:lnTo>
                <a:cubicBezTo>
                  <a:pt x="5585629" y="0"/>
                  <a:pt x="5619750" y="34121"/>
                  <a:pt x="5619750" y="76212"/>
                </a:cubicBezTo>
                <a:lnTo>
                  <a:pt x="5619750" y="2819388"/>
                </a:lnTo>
                <a:cubicBezTo>
                  <a:pt x="5619750" y="2861479"/>
                  <a:pt x="5585629" y="2895600"/>
                  <a:pt x="5543538" y="2895600"/>
                </a:cubicBezTo>
                <a:lnTo>
                  <a:pt x="76212" y="2895600"/>
                </a:lnTo>
                <a:cubicBezTo>
                  <a:pt x="34121" y="2895600"/>
                  <a:pt x="0" y="2861479"/>
                  <a:pt x="0" y="28193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381526" y="1371130"/>
            <a:ext cx="533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Design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526" y="1790095"/>
            <a:ext cx="2562225" cy="990600"/>
          </a:xfrm>
          <a:custGeom>
            <a:avLst/>
            <a:gdLst/>
            <a:ahLst/>
            <a:cxnLst/>
            <a:rect l="l" t="t" r="r" b="b"/>
            <a:pathLst>
              <a:path w="2562225" h="9906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914403"/>
                </a:lnTo>
                <a:cubicBezTo>
                  <a:pt x="2562225" y="956485"/>
                  <a:pt x="2528110" y="990600"/>
                  <a:pt x="2486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562670" y="194240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4513" y="1116"/>
                </a:moveTo>
                <a:cubicBezTo>
                  <a:pt x="38130" y="-714"/>
                  <a:pt x="42505" y="-313"/>
                  <a:pt x="45720" y="2143"/>
                </a:cubicBezTo>
                <a:lnTo>
                  <a:pt x="188595" y="109255"/>
                </a:lnTo>
                <a:cubicBezTo>
                  <a:pt x="192301" y="112023"/>
                  <a:pt x="193774" y="116845"/>
                  <a:pt x="192345" y="121221"/>
                </a:cubicBezTo>
                <a:cubicBezTo>
                  <a:pt x="190917" y="125596"/>
                  <a:pt x="186809" y="128543"/>
                  <a:pt x="182166" y="128543"/>
                </a:cubicBezTo>
                <a:lnTo>
                  <a:pt x="114166" y="128543"/>
                </a:lnTo>
                <a:lnTo>
                  <a:pt x="153859" y="207883"/>
                </a:lnTo>
                <a:cubicBezTo>
                  <a:pt x="157386" y="214938"/>
                  <a:pt x="154528" y="223510"/>
                  <a:pt x="147474" y="227037"/>
                </a:cubicBezTo>
                <a:cubicBezTo>
                  <a:pt x="140419" y="230565"/>
                  <a:pt x="131847" y="227707"/>
                  <a:pt x="128320" y="220653"/>
                </a:cubicBezTo>
                <a:lnTo>
                  <a:pt x="88627" y="141312"/>
                </a:lnTo>
                <a:lnTo>
                  <a:pt x="47863" y="195694"/>
                </a:lnTo>
                <a:cubicBezTo>
                  <a:pt x="45095" y="199400"/>
                  <a:pt x="40273" y="200873"/>
                  <a:pt x="35897" y="199445"/>
                </a:cubicBezTo>
                <a:cubicBezTo>
                  <a:pt x="31522" y="198016"/>
                  <a:pt x="28575" y="193908"/>
                  <a:pt x="28575" y="189309"/>
                </a:cubicBezTo>
                <a:lnTo>
                  <a:pt x="28575" y="10716"/>
                </a:lnTo>
                <a:cubicBezTo>
                  <a:pt x="28575" y="6653"/>
                  <a:pt x="30852" y="2947"/>
                  <a:pt x="34513" y="111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6" name="Text 34"/>
          <p:cNvSpPr/>
          <p:nvPr/>
        </p:nvSpPr>
        <p:spPr>
          <a:xfrm>
            <a:off x="6500498" y="2247137"/>
            <a:ext cx="2324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Interactive Navigation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5260" y="2475602"/>
            <a:ext cx="2314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Seamless page transitions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8185" y="1790095"/>
            <a:ext cx="2562225" cy="990600"/>
          </a:xfrm>
          <a:custGeom>
            <a:avLst/>
            <a:gdLst/>
            <a:ahLst/>
            <a:cxnLst/>
            <a:rect l="l" t="t" r="r" b="b"/>
            <a:pathLst>
              <a:path w="2562225" h="9906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914403"/>
                </a:lnTo>
                <a:cubicBezTo>
                  <a:pt x="2562225" y="956485"/>
                  <a:pt x="2528110" y="990600"/>
                  <a:pt x="2486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0225042" y="194240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0" name="Text 38"/>
          <p:cNvSpPr/>
          <p:nvPr/>
        </p:nvSpPr>
        <p:spPr>
          <a:xfrm>
            <a:off x="9177158" y="2247137"/>
            <a:ext cx="2324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Tooltip Exploration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81920" y="2475602"/>
            <a:ext cx="2314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Detailed data on hover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1526" y="2894568"/>
            <a:ext cx="2562225" cy="990600"/>
          </a:xfrm>
          <a:custGeom>
            <a:avLst/>
            <a:gdLst/>
            <a:ahLst/>
            <a:cxnLst/>
            <a:rect l="l" t="t" r="r" b="b"/>
            <a:pathLst>
              <a:path w="2562225" h="9906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914403"/>
                </a:lnTo>
                <a:cubicBezTo>
                  <a:pt x="2562225" y="956485"/>
                  <a:pt x="2528110" y="990600"/>
                  <a:pt x="2486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7562670" y="304687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42863"/>
                </a:moveTo>
                <a:lnTo>
                  <a:pt x="114300" y="42863"/>
                </a:lnTo>
                <a:lnTo>
                  <a:pt x="114300" y="100013"/>
                </a:lnTo>
                <a:lnTo>
                  <a:pt x="171450" y="100013"/>
                </a:lnTo>
                <a:lnTo>
                  <a:pt x="171450" y="42863"/>
                </a:lnTo>
                <a:close/>
                <a:moveTo>
                  <a:pt x="200025" y="100013"/>
                </a:move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00013"/>
                </a:lnTo>
                <a:close/>
                <a:moveTo>
                  <a:pt x="28575" y="128588"/>
                </a:moveTo>
                <a:lnTo>
                  <a:pt x="28575" y="185738"/>
                </a:lnTo>
                <a:lnTo>
                  <a:pt x="85725" y="185738"/>
                </a:lnTo>
                <a:lnTo>
                  <a:pt x="85725" y="128588"/>
                </a:lnTo>
                <a:lnTo>
                  <a:pt x="28575" y="128588"/>
                </a:lnTo>
                <a:close/>
                <a:moveTo>
                  <a:pt x="85725" y="100013"/>
                </a:moveTo>
                <a:lnTo>
                  <a:pt x="85725" y="42863"/>
                </a:lnTo>
                <a:lnTo>
                  <a:pt x="28575" y="42863"/>
                </a:lnTo>
                <a:lnTo>
                  <a:pt x="28575" y="100013"/>
                </a:lnTo>
                <a:lnTo>
                  <a:pt x="85725" y="100013"/>
                </a:lnTo>
                <a:close/>
                <a:moveTo>
                  <a:pt x="114300" y="128588"/>
                </a:moveTo>
                <a:lnTo>
                  <a:pt x="114300" y="185738"/>
                </a:lnTo>
                <a:lnTo>
                  <a:pt x="171450" y="185738"/>
                </a:lnTo>
                <a:lnTo>
                  <a:pt x="171450" y="128588"/>
                </a:lnTo>
                <a:lnTo>
                  <a:pt x="114300" y="128588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44" name="Text 42"/>
          <p:cNvSpPr/>
          <p:nvPr/>
        </p:nvSpPr>
        <p:spPr>
          <a:xfrm>
            <a:off x="6500498" y="3351609"/>
            <a:ext cx="2324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KPI Summary Cards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5260" y="3580074"/>
            <a:ext cx="2314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Quick executive review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58185" y="2894568"/>
            <a:ext cx="2562225" cy="990600"/>
          </a:xfrm>
          <a:custGeom>
            <a:avLst/>
            <a:gdLst/>
            <a:ahLst/>
            <a:cxnLst/>
            <a:rect l="l" t="t" r="r" b="b"/>
            <a:pathLst>
              <a:path w="2562225" h="990600">
                <a:moveTo>
                  <a:pt x="76197" y="0"/>
                </a:moveTo>
                <a:lnTo>
                  <a:pt x="2486028" y="0"/>
                </a:lnTo>
                <a:cubicBezTo>
                  <a:pt x="2528110" y="0"/>
                  <a:pt x="2562225" y="34115"/>
                  <a:pt x="2562225" y="76197"/>
                </a:cubicBezTo>
                <a:lnTo>
                  <a:pt x="2562225" y="914403"/>
                </a:lnTo>
                <a:cubicBezTo>
                  <a:pt x="2562225" y="956485"/>
                  <a:pt x="2528110" y="990600"/>
                  <a:pt x="24860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0225042" y="30468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8" name="Text 46"/>
          <p:cNvSpPr/>
          <p:nvPr/>
        </p:nvSpPr>
        <p:spPr>
          <a:xfrm>
            <a:off x="9177158" y="3351609"/>
            <a:ext cx="2324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 Hierarchy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81920" y="3580074"/>
            <a:ext cx="23145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Consistent formatting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138" y="4227505"/>
            <a:ext cx="5619750" cy="2019300"/>
          </a:xfrm>
          <a:custGeom>
            <a:avLst/>
            <a:gdLst/>
            <a:ahLst/>
            <a:cxnLst/>
            <a:rect l="l" t="t" r="r" b="b"/>
            <a:pathLst>
              <a:path w="5619750" h="2019300">
                <a:moveTo>
                  <a:pt x="76208" y="0"/>
                </a:moveTo>
                <a:lnTo>
                  <a:pt x="5543542" y="0"/>
                </a:lnTo>
                <a:cubicBezTo>
                  <a:pt x="5585630" y="0"/>
                  <a:pt x="5619750" y="34120"/>
                  <a:pt x="5619750" y="76208"/>
                </a:cubicBezTo>
                <a:lnTo>
                  <a:pt x="5619750" y="1943092"/>
                </a:lnTo>
                <a:cubicBezTo>
                  <a:pt x="5619750" y="1985180"/>
                  <a:pt x="5585630" y="2019300"/>
                  <a:pt x="5543542" y="2019300"/>
                </a:cubicBezTo>
                <a:lnTo>
                  <a:pt x="76208" y="2019300"/>
                </a:lnTo>
                <a:cubicBezTo>
                  <a:pt x="34120" y="2019300"/>
                  <a:pt x="0" y="1985180"/>
                  <a:pt x="0" y="19430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381526" y="4417893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 Benefits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10101" y="4817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3" name="Text 51"/>
          <p:cNvSpPr/>
          <p:nvPr/>
        </p:nvSpPr>
        <p:spPr>
          <a:xfrm>
            <a:off x="6648068" y="4798670"/>
            <a:ext cx="164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data visualization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0101" y="508419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5" name="Text 53"/>
          <p:cNvSpPr/>
          <p:nvPr/>
        </p:nvSpPr>
        <p:spPr>
          <a:xfrm>
            <a:off x="6648068" y="5065212"/>
            <a:ext cx="138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Drill-down capabilities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0101" y="535073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7" name="Text 55"/>
          <p:cNvSpPr/>
          <p:nvPr/>
        </p:nvSpPr>
        <p:spPr>
          <a:xfrm>
            <a:off x="6648068" y="5331754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Cross-filtering between visuals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0101" y="56172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9" name="Text 57"/>
          <p:cNvSpPr/>
          <p:nvPr/>
        </p:nvSpPr>
        <p:spPr>
          <a:xfrm>
            <a:off x="6648068" y="5598295"/>
            <a:ext cx="1562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Mobile-responsive design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10101" y="588382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61" name="Text 59"/>
          <p:cNvSpPr/>
          <p:nvPr/>
        </p:nvSpPr>
        <p:spPr>
          <a:xfrm>
            <a:off x="6648068" y="5864842"/>
            <a:ext cx="1600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Export and sharing options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1896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" name="Shape 1"/>
          <p:cNvSpPr/>
          <p:nvPr/>
        </p:nvSpPr>
        <p:spPr>
          <a:xfrm>
            <a:off x="561818" y="57127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E2E6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513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 / Strategic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52387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Insights &amp; 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888" y="1180742"/>
            <a:ext cx="5619750" cy="5295900"/>
          </a:xfrm>
          <a:custGeom>
            <a:avLst/>
            <a:gdLst/>
            <a:ahLst/>
            <a:cxnLst/>
            <a:rect l="l" t="t" r="r" b="b"/>
            <a:pathLst>
              <a:path w="5619750" h="5295900">
                <a:moveTo>
                  <a:pt x="76208" y="0"/>
                </a:moveTo>
                <a:lnTo>
                  <a:pt x="5543542" y="0"/>
                </a:lnTo>
                <a:cubicBezTo>
                  <a:pt x="5585602" y="0"/>
                  <a:pt x="5619750" y="34148"/>
                  <a:pt x="5619750" y="76208"/>
                </a:cubicBezTo>
                <a:lnTo>
                  <a:pt x="5619750" y="5219692"/>
                </a:lnTo>
                <a:cubicBezTo>
                  <a:pt x="5619750" y="5261781"/>
                  <a:pt x="5585631" y="5295900"/>
                  <a:pt x="554354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95088" y="14092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8" name="Text 6"/>
          <p:cNvSpPr/>
          <p:nvPr/>
        </p:nvSpPr>
        <p:spPr>
          <a:xfrm>
            <a:off x="809400" y="1371130"/>
            <a:ext cx="509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 Key Business Insights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9247" y="1790095"/>
            <a:ext cx="5218622" cy="657225"/>
          </a:xfrm>
          <a:custGeom>
            <a:avLst/>
            <a:gdLst/>
            <a:ahLst/>
            <a:cxnLst/>
            <a:rect l="l" t="t" r="r" b="b"/>
            <a:pathLst>
              <a:path w="5218622" h="657225">
                <a:moveTo>
                  <a:pt x="35943" y="0"/>
                </a:moveTo>
                <a:lnTo>
                  <a:pt x="5142423" y="0"/>
                </a:lnTo>
                <a:cubicBezTo>
                  <a:pt x="5184506" y="0"/>
                  <a:pt x="5218622" y="34115"/>
                  <a:pt x="5218622" y="76199"/>
                </a:cubicBezTo>
                <a:lnTo>
                  <a:pt x="5218622" y="581026"/>
                </a:lnTo>
                <a:cubicBezTo>
                  <a:pt x="5218622" y="623110"/>
                  <a:pt x="5184506" y="657225"/>
                  <a:pt x="5142423" y="657225"/>
                </a:cubicBezTo>
                <a:lnTo>
                  <a:pt x="35943" y="657225"/>
                </a:lnTo>
                <a:cubicBezTo>
                  <a:pt x="16092" y="657225"/>
                  <a:pt x="0" y="641133"/>
                  <a:pt x="0" y="62128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89247" y="1790095"/>
            <a:ext cx="35943" cy="657225"/>
          </a:xfrm>
          <a:custGeom>
            <a:avLst/>
            <a:gdLst/>
            <a:ahLst/>
            <a:cxnLst/>
            <a:rect l="l" t="t" r="r" b="b"/>
            <a:pathLst>
              <a:path w="35943" h="657225">
                <a:moveTo>
                  <a:pt x="35943" y="0"/>
                </a:moveTo>
                <a:lnTo>
                  <a:pt x="35943" y="0"/>
                </a:lnTo>
                <a:lnTo>
                  <a:pt x="35943" y="657225"/>
                </a:lnTo>
                <a:lnTo>
                  <a:pt x="35943" y="657225"/>
                </a:lnTo>
                <a:cubicBezTo>
                  <a:pt x="16092" y="657225"/>
                  <a:pt x="0" y="641133"/>
                  <a:pt x="0" y="621282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1" name="Shape 9"/>
          <p:cNvSpPr/>
          <p:nvPr/>
        </p:nvSpPr>
        <p:spPr>
          <a:xfrm>
            <a:off x="721451" y="192331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2" name="Text 10"/>
          <p:cNvSpPr/>
          <p:nvPr/>
        </p:nvSpPr>
        <p:spPr>
          <a:xfrm>
            <a:off x="833550" y="1961387"/>
            <a:ext cx="104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2339" y="1904326"/>
            <a:ext cx="4657725" cy="428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Revenue is primarily driven by Occasional Customers</a:t>
            </a: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- the largest segment by volume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247" y="2565908"/>
            <a:ext cx="5218622" cy="514350"/>
          </a:xfrm>
          <a:custGeom>
            <a:avLst/>
            <a:gdLst/>
            <a:ahLst/>
            <a:cxnLst/>
            <a:rect l="l" t="t" r="r" b="b"/>
            <a:pathLst>
              <a:path w="5218622" h="514350">
                <a:moveTo>
                  <a:pt x="35943" y="0"/>
                </a:moveTo>
                <a:lnTo>
                  <a:pt x="5142421" y="0"/>
                </a:lnTo>
                <a:cubicBezTo>
                  <a:pt x="5184505" y="0"/>
                  <a:pt x="5218622" y="34116"/>
                  <a:pt x="5218622" y="76201"/>
                </a:cubicBezTo>
                <a:lnTo>
                  <a:pt x="5218622" y="438149"/>
                </a:lnTo>
                <a:cubicBezTo>
                  <a:pt x="5218622" y="480234"/>
                  <a:pt x="5184505" y="514350"/>
                  <a:pt x="5142421" y="514350"/>
                </a:cubicBez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89247" y="2565908"/>
            <a:ext cx="35943" cy="514350"/>
          </a:xfrm>
          <a:custGeom>
            <a:avLst/>
            <a:gdLst/>
            <a:ahLst/>
            <a:cxnLst/>
            <a:rect l="l" t="t" r="r" b="b"/>
            <a:pathLst>
              <a:path w="35943" h="514350">
                <a:moveTo>
                  <a:pt x="35943" y="0"/>
                </a:moveTo>
                <a:lnTo>
                  <a:pt x="35943" y="0"/>
                </a:lnTo>
                <a:lnTo>
                  <a:pt x="35943" y="514350"/>
                </a:ln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6" name="Shape 14"/>
          <p:cNvSpPr/>
          <p:nvPr/>
        </p:nvSpPr>
        <p:spPr>
          <a:xfrm>
            <a:off x="721451" y="26991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17" name="Text 15"/>
          <p:cNvSpPr/>
          <p:nvPr/>
        </p:nvSpPr>
        <p:spPr>
          <a:xfrm>
            <a:off x="820857" y="2737200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2339" y="2680143"/>
            <a:ext cx="403860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Champions deliver highest AOV</a:t>
            </a: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but form a small customer base (8%)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9247" y="3194247"/>
            <a:ext cx="5218622" cy="514350"/>
          </a:xfrm>
          <a:custGeom>
            <a:avLst/>
            <a:gdLst/>
            <a:ahLst/>
            <a:cxnLst/>
            <a:rect l="l" t="t" r="r" b="b"/>
            <a:pathLst>
              <a:path w="5218622" h="514350">
                <a:moveTo>
                  <a:pt x="35943" y="0"/>
                </a:moveTo>
                <a:lnTo>
                  <a:pt x="5142421" y="0"/>
                </a:lnTo>
                <a:cubicBezTo>
                  <a:pt x="5184505" y="0"/>
                  <a:pt x="5218622" y="34116"/>
                  <a:pt x="5218622" y="76201"/>
                </a:cubicBezTo>
                <a:lnTo>
                  <a:pt x="5218622" y="438149"/>
                </a:lnTo>
                <a:cubicBezTo>
                  <a:pt x="5218622" y="480234"/>
                  <a:pt x="5184505" y="514350"/>
                  <a:pt x="5142421" y="514350"/>
                </a:cubicBez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89247" y="3194247"/>
            <a:ext cx="35943" cy="514350"/>
          </a:xfrm>
          <a:custGeom>
            <a:avLst/>
            <a:gdLst/>
            <a:ahLst/>
            <a:cxnLst/>
            <a:rect l="l" t="t" r="r" b="b"/>
            <a:pathLst>
              <a:path w="35943" h="514350">
                <a:moveTo>
                  <a:pt x="35943" y="0"/>
                </a:moveTo>
                <a:lnTo>
                  <a:pt x="35943" y="0"/>
                </a:lnTo>
                <a:lnTo>
                  <a:pt x="35943" y="514350"/>
                </a:ln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1" name="Shape 19"/>
          <p:cNvSpPr/>
          <p:nvPr/>
        </p:nvSpPr>
        <p:spPr>
          <a:xfrm>
            <a:off x="721451" y="332746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2" name="Text 20"/>
          <p:cNvSpPr/>
          <p:nvPr/>
        </p:nvSpPr>
        <p:spPr>
          <a:xfrm>
            <a:off x="819060" y="3365539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2339" y="3308477"/>
            <a:ext cx="41814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Frequency does not strongly increase order value</a:t>
            </a: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- AOV remains stable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9247" y="3822581"/>
            <a:ext cx="5218622" cy="514350"/>
          </a:xfrm>
          <a:custGeom>
            <a:avLst/>
            <a:gdLst/>
            <a:ahLst/>
            <a:cxnLst/>
            <a:rect l="l" t="t" r="r" b="b"/>
            <a:pathLst>
              <a:path w="5218622" h="514350">
                <a:moveTo>
                  <a:pt x="35943" y="0"/>
                </a:moveTo>
                <a:lnTo>
                  <a:pt x="5142421" y="0"/>
                </a:lnTo>
                <a:cubicBezTo>
                  <a:pt x="5184505" y="0"/>
                  <a:pt x="5218622" y="34116"/>
                  <a:pt x="5218622" y="76201"/>
                </a:cubicBezTo>
                <a:lnTo>
                  <a:pt x="5218622" y="438149"/>
                </a:lnTo>
                <a:cubicBezTo>
                  <a:pt x="5218622" y="480234"/>
                  <a:pt x="5184505" y="514350"/>
                  <a:pt x="5142421" y="514350"/>
                </a:cubicBez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89247" y="3822581"/>
            <a:ext cx="35943" cy="514350"/>
          </a:xfrm>
          <a:custGeom>
            <a:avLst/>
            <a:gdLst/>
            <a:ahLst/>
            <a:cxnLst/>
            <a:rect l="l" t="t" r="r" b="b"/>
            <a:pathLst>
              <a:path w="35943" h="514350">
                <a:moveTo>
                  <a:pt x="35943" y="0"/>
                </a:moveTo>
                <a:lnTo>
                  <a:pt x="35943" y="0"/>
                </a:lnTo>
                <a:lnTo>
                  <a:pt x="35943" y="514350"/>
                </a:ln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6" name="Shape 24"/>
          <p:cNvSpPr/>
          <p:nvPr/>
        </p:nvSpPr>
        <p:spPr>
          <a:xfrm>
            <a:off x="721451" y="395579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7A91"/>
          </a:solidFill>
        </p:spPr>
      </p:sp>
      <p:sp>
        <p:nvSpPr>
          <p:cNvPr id="27" name="Text 25"/>
          <p:cNvSpPr/>
          <p:nvPr/>
        </p:nvSpPr>
        <p:spPr>
          <a:xfrm>
            <a:off x="820857" y="3993872"/>
            <a:ext cx="13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2339" y="3936811"/>
            <a:ext cx="398145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Discounts have minimal impact on ratings</a:t>
            </a: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- only 0.1 point difference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9247" y="4450914"/>
            <a:ext cx="5218622" cy="514350"/>
          </a:xfrm>
          <a:custGeom>
            <a:avLst/>
            <a:gdLst/>
            <a:ahLst/>
            <a:cxnLst/>
            <a:rect l="l" t="t" r="r" b="b"/>
            <a:pathLst>
              <a:path w="5218622" h="514350">
                <a:moveTo>
                  <a:pt x="35943" y="0"/>
                </a:moveTo>
                <a:lnTo>
                  <a:pt x="5142421" y="0"/>
                </a:lnTo>
                <a:cubicBezTo>
                  <a:pt x="5184505" y="0"/>
                  <a:pt x="5218622" y="34116"/>
                  <a:pt x="5218622" y="76201"/>
                </a:cubicBezTo>
                <a:lnTo>
                  <a:pt x="5218622" y="438149"/>
                </a:lnTo>
                <a:cubicBezTo>
                  <a:pt x="5218622" y="480234"/>
                  <a:pt x="5184505" y="514350"/>
                  <a:pt x="5142421" y="514350"/>
                </a:cubicBez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89247" y="4450914"/>
            <a:ext cx="35943" cy="514350"/>
          </a:xfrm>
          <a:custGeom>
            <a:avLst/>
            <a:gdLst/>
            <a:ahLst/>
            <a:cxnLst/>
            <a:rect l="l" t="t" r="r" b="b"/>
            <a:pathLst>
              <a:path w="35943" h="514350">
                <a:moveTo>
                  <a:pt x="35943" y="0"/>
                </a:moveTo>
                <a:lnTo>
                  <a:pt x="35943" y="0"/>
                </a:lnTo>
                <a:lnTo>
                  <a:pt x="35943" y="514350"/>
                </a:lnTo>
                <a:lnTo>
                  <a:pt x="35943" y="514350"/>
                </a:lnTo>
                <a:cubicBezTo>
                  <a:pt x="16092" y="514350"/>
                  <a:pt x="0" y="498258"/>
                  <a:pt x="0" y="4784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1" name="Shape 29"/>
          <p:cNvSpPr/>
          <p:nvPr/>
        </p:nvSpPr>
        <p:spPr>
          <a:xfrm>
            <a:off x="721451" y="458412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A5F7A"/>
          </a:solidFill>
        </p:spPr>
      </p:sp>
      <p:sp>
        <p:nvSpPr>
          <p:cNvPr id="32" name="Text 30"/>
          <p:cNvSpPr/>
          <p:nvPr/>
        </p:nvSpPr>
        <p:spPr>
          <a:xfrm>
            <a:off x="818835" y="4622206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2339" y="4565149"/>
            <a:ext cx="377190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Subscription indicates stronger engagement</a:t>
            </a:r>
            <a:r>
              <a:rPr lang="en-US" sz="1050" dirty="0">
                <a:solidFill>
                  <a:srgbClr val="E0E2E6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- 28% adoption rate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138" y="1180742"/>
            <a:ext cx="5619750" cy="5295900"/>
          </a:xfrm>
          <a:custGeom>
            <a:avLst/>
            <a:gdLst/>
            <a:ahLst/>
            <a:cxnLst/>
            <a:rect l="l" t="t" r="r" b="b"/>
            <a:pathLst>
              <a:path w="5619750" h="5295900">
                <a:moveTo>
                  <a:pt x="76208" y="0"/>
                </a:moveTo>
                <a:lnTo>
                  <a:pt x="5543542" y="0"/>
                </a:lnTo>
                <a:cubicBezTo>
                  <a:pt x="5585602" y="0"/>
                  <a:pt x="5619750" y="34148"/>
                  <a:pt x="5619750" y="76208"/>
                </a:cubicBezTo>
                <a:lnTo>
                  <a:pt x="5619750" y="5219692"/>
                </a:lnTo>
                <a:cubicBezTo>
                  <a:pt x="5619750" y="5261781"/>
                  <a:pt x="5585631" y="5295900"/>
                  <a:pt x="5543542" y="5295900"/>
                </a:cubicBezTo>
                <a:lnTo>
                  <a:pt x="76208" y="5295900"/>
                </a:lnTo>
                <a:cubicBezTo>
                  <a:pt x="34119" y="5295900"/>
                  <a:pt x="0" y="5261781"/>
                  <a:pt x="0" y="52196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A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405338" y="14092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6" name="Text 34"/>
          <p:cNvSpPr/>
          <p:nvPr/>
        </p:nvSpPr>
        <p:spPr>
          <a:xfrm>
            <a:off x="6619651" y="1371130"/>
            <a:ext cx="509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 Actionable Recommendations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5120" y="1793690"/>
            <a:ext cx="5236414" cy="645364"/>
          </a:xfrm>
          <a:custGeom>
            <a:avLst/>
            <a:gdLst/>
            <a:ahLst/>
            <a:cxnLst/>
            <a:rect l="l" t="t" r="r" b="b"/>
            <a:pathLst>
              <a:path w="5236414" h="645364">
                <a:moveTo>
                  <a:pt x="76198" y="0"/>
                </a:moveTo>
                <a:lnTo>
                  <a:pt x="5160216" y="0"/>
                </a:lnTo>
                <a:cubicBezTo>
                  <a:pt x="5202299" y="0"/>
                  <a:pt x="5236414" y="34115"/>
                  <a:pt x="5236414" y="76198"/>
                </a:cubicBezTo>
                <a:lnTo>
                  <a:pt x="5236414" y="569166"/>
                </a:lnTo>
                <a:cubicBezTo>
                  <a:pt x="5236414" y="611249"/>
                  <a:pt x="5202299" y="645364"/>
                  <a:pt x="5160216" y="645364"/>
                </a:cubicBezTo>
                <a:lnTo>
                  <a:pt x="76198" y="645364"/>
                </a:lnTo>
                <a:cubicBezTo>
                  <a:pt x="34143" y="645364"/>
                  <a:pt x="0" y="611220"/>
                  <a:pt x="0" y="569166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02947" y="191151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39" name="Shape 37"/>
          <p:cNvSpPr/>
          <p:nvPr/>
        </p:nvSpPr>
        <p:spPr>
          <a:xfrm>
            <a:off x="6574295" y="1997218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35421" y="33337"/>
                </a:moveTo>
                <a:cubicBezTo>
                  <a:pt x="35421" y="16088"/>
                  <a:pt x="49425" y="2084"/>
                  <a:pt x="66675" y="2084"/>
                </a:cubicBezTo>
                <a:cubicBezTo>
                  <a:pt x="83925" y="2084"/>
                  <a:pt x="97929" y="16088"/>
                  <a:pt x="97929" y="33337"/>
                </a:cubicBezTo>
                <a:cubicBezTo>
                  <a:pt x="97929" y="50587"/>
                  <a:pt x="83925" y="64591"/>
                  <a:pt x="66675" y="64591"/>
                </a:cubicBezTo>
                <a:cubicBezTo>
                  <a:pt x="49425" y="64591"/>
                  <a:pt x="35421" y="50587"/>
                  <a:pt x="35421" y="33337"/>
                </a:cubicBezTo>
                <a:close/>
                <a:moveTo>
                  <a:pt x="12502" y="125615"/>
                </a:moveTo>
                <a:cubicBezTo>
                  <a:pt x="12502" y="99960"/>
                  <a:pt x="33285" y="79177"/>
                  <a:pt x="58940" y="79177"/>
                </a:cubicBezTo>
                <a:lnTo>
                  <a:pt x="74410" y="79177"/>
                </a:lnTo>
                <a:cubicBezTo>
                  <a:pt x="100065" y="79177"/>
                  <a:pt x="120848" y="99960"/>
                  <a:pt x="120848" y="125615"/>
                </a:cubicBezTo>
                <a:cubicBezTo>
                  <a:pt x="120848" y="129886"/>
                  <a:pt x="117384" y="133350"/>
                  <a:pt x="113113" y="133350"/>
                </a:cubicBezTo>
                <a:lnTo>
                  <a:pt x="20237" y="133350"/>
                </a:lnTo>
                <a:cubicBezTo>
                  <a:pt x="15966" y="133350"/>
                  <a:pt x="12502" y="129886"/>
                  <a:pt x="12502" y="125615"/>
                </a:cubicBezTo>
                <a:close/>
                <a:moveTo>
                  <a:pt x="141684" y="25003"/>
                </a:moveTo>
                <a:cubicBezTo>
                  <a:pt x="145148" y="25003"/>
                  <a:pt x="147935" y="27790"/>
                  <a:pt x="147935" y="31254"/>
                </a:cubicBezTo>
                <a:lnTo>
                  <a:pt x="147935" y="43755"/>
                </a:lnTo>
                <a:lnTo>
                  <a:pt x="160437" y="43755"/>
                </a:lnTo>
                <a:cubicBezTo>
                  <a:pt x="163901" y="43755"/>
                  <a:pt x="166688" y="46542"/>
                  <a:pt x="166688" y="50006"/>
                </a:cubicBezTo>
                <a:cubicBezTo>
                  <a:pt x="166688" y="53470"/>
                  <a:pt x="163901" y="56257"/>
                  <a:pt x="160437" y="56257"/>
                </a:cubicBezTo>
                <a:lnTo>
                  <a:pt x="147935" y="56257"/>
                </a:lnTo>
                <a:lnTo>
                  <a:pt x="147935" y="68759"/>
                </a:lnTo>
                <a:cubicBezTo>
                  <a:pt x="147935" y="72223"/>
                  <a:pt x="145148" y="75009"/>
                  <a:pt x="141684" y="75009"/>
                </a:cubicBezTo>
                <a:cubicBezTo>
                  <a:pt x="138220" y="75009"/>
                  <a:pt x="135434" y="72223"/>
                  <a:pt x="135434" y="68759"/>
                </a:cubicBezTo>
                <a:lnTo>
                  <a:pt x="135434" y="56257"/>
                </a:lnTo>
                <a:lnTo>
                  <a:pt x="122932" y="56257"/>
                </a:lnTo>
                <a:cubicBezTo>
                  <a:pt x="119468" y="56257"/>
                  <a:pt x="116681" y="53470"/>
                  <a:pt x="116681" y="50006"/>
                </a:cubicBezTo>
                <a:cubicBezTo>
                  <a:pt x="116681" y="46542"/>
                  <a:pt x="119468" y="43755"/>
                  <a:pt x="122932" y="43755"/>
                </a:cubicBezTo>
                <a:lnTo>
                  <a:pt x="135434" y="43755"/>
                </a:lnTo>
                <a:lnTo>
                  <a:pt x="135434" y="31254"/>
                </a:lnTo>
                <a:cubicBezTo>
                  <a:pt x="135434" y="27790"/>
                  <a:pt x="138220" y="25003"/>
                  <a:pt x="141684" y="25003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0" name="Text 38"/>
          <p:cNvSpPr/>
          <p:nvPr/>
        </p:nvSpPr>
        <p:spPr>
          <a:xfrm>
            <a:off x="6921912" y="1911516"/>
            <a:ext cx="3248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Convert Occasional Customers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21912" y="2139981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Introduce light loyalty incentives to increase purchase frequency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5120" y="2565010"/>
            <a:ext cx="5236414" cy="645364"/>
          </a:xfrm>
          <a:custGeom>
            <a:avLst/>
            <a:gdLst/>
            <a:ahLst/>
            <a:cxnLst/>
            <a:rect l="l" t="t" r="r" b="b"/>
            <a:pathLst>
              <a:path w="5236414" h="645364">
                <a:moveTo>
                  <a:pt x="76198" y="0"/>
                </a:moveTo>
                <a:lnTo>
                  <a:pt x="5160216" y="0"/>
                </a:lnTo>
                <a:cubicBezTo>
                  <a:pt x="5202299" y="0"/>
                  <a:pt x="5236414" y="34115"/>
                  <a:pt x="5236414" y="76198"/>
                </a:cubicBezTo>
                <a:lnTo>
                  <a:pt x="5236414" y="569166"/>
                </a:lnTo>
                <a:cubicBezTo>
                  <a:pt x="5236414" y="611249"/>
                  <a:pt x="5202299" y="645364"/>
                  <a:pt x="5160216" y="645364"/>
                </a:cubicBezTo>
                <a:lnTo>
                  <a:pt x="76198" y="645364"/>
                </a:lnTo>
                <a:cubicBezTo>
                  <a:pt x="34143" y="645364"/>
                  <a:pt x="0" y="611220"/>
                  <a:pt x="0" y="569166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02947" y="268283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4" name="Shape 42"/>
          <p:cNvSpPr/>
          <p:nvPr/>
        </p:nvSpPr>
        <p:spPr>
          <a:xfrm>
            <a:off x="6582629" y="2768538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1521" y="22711"/>
                </a:moveTo>
                <a:cubicBezTo>
                  <a:pt x="83917" y="20810"/>
                  <a:pt x="85427" y="17867"/>
                  <a:pt x="85427" y="14585"/>
                </a:cubicBezTo>
                <a:cubicBezTo>
                  <a:pt x="85427" y="8829"/>
                  <a:pt x="80765" y="4167"/>
                  <a:pt x="75009" y="4167"/>
                </a:cubicBezTo>
                <a:cubicBezTo>
                  <a:pt x="69253" y="4167"/>
                  <a:pt x="64591" y="8829"/>
                  <a:pt x="64591" y="14585"/>
                </a:cubicBezTo>
                <a:cubicBezTo>
                  <a:pt x="64591" y="17867"/>
                  <a:pt x="66128" y="20810"/>
                  <a:pt x="68498" y="22711"/>
                </a:cubicBezTo>
                <a:lnTo>
                  <a:pt x="50683" y="50736"/>
                </a:lnTo>
                <a:cubicBezTo>
                  <a:pt x="48079" y="54825"/>
                  <a:pt x="42531" y="55840"/>
                  <a:pt x="38651" y="52923"/>
                </a:cubicBezTo>
                <a:lnTo>
                  <a:pt x="23154" y="41333"/>
                </a:lnTo>
                <a:cubicBezTo>
                  <a:pt x="24326" y="39666"/>
                  <a:pt x="25003" y="37609"/>
                  <a:pt x="25003" y="35421"/>
                </a:cubicBezTo>
                <a:cubicBezTo>
                  <a:pt x="25003" y="29665"/>
                  <a:pt x="20341" y="25003"/>
                  <a:pt x="14585" y="25003"/>
                </a:cubicBezTo>
                <a:cubicBezTo>
                  <a:pt x="8829" y="25003"/>
                  <a:pt x="4167" y="29665"/>
                  <a:pt x="4167" y="35421"/>
                </a:cubicBezTo>
                <a:cubicBezTo>
                  <a:pt x="4167" y="41099"/>
                  <a:pt x="8725" y="45735"/>
                  <a:pt x="14377" y="45839"/>
                </a:cubicBezTo>
                <a:lnTo>
                  <a:pt x="22867" y="102487"/>
                </a:lnTo>
                <a:cubicBezTo>
                  <a:pt x="24092" y="110639"/>
                  <a:pt x="31098" y="116681"/>
                  <a:pt x="39354" y="116681"/>
                </a:cubicBezTo>
                <a:lnTo>
                  <a:pt x="110665" y="116681"/>
                </a:lnTo>
                <a:cubicBezTo>
                  <a:pt x="118921" y="116681"/>
                  <a:pt x="125927" y="110639"/>
                  <a:pt x="127151" y="102487"/>
                </a:cubicBezTo>
                <a:lnTo>
                  <a:pt x="135642" y="45839"/>
                </a:lnTo>
                <a:cubicBezTo>
                  <a:pt x="141294" y="45735"/>
                  <a:pt x="145852" y="41099"/>
                  <a:pt x="145852" y="35421"/>
                </a:cubicBezTo>
                <a:cubicBezTo>
                  <a:pt x="145852" y="29665"/>
                  <a:pt x="141190" y="25003"/>
                  <a:pt x="135434" y="25003"/>
                </a:cubicBezTo>
                <a:cubicBezTo>
                  <a:pt x="129678" y="25003"/>
                  <a:pt x="125016" y="29665"/>
                  <a:pt x="125016" y="35421"/>
                </a:cubicBezTo>
                <a:cubicBezTo>
                  <a:pt x="125016" y="37609"/>
                  <a:pt x="125693" y="39666"/>
                  <a:pt x="126865" y="41333"/>
                </a:cubicBezTo>
                <a:lnTo>
                  <a:pt x="111394" y="52949"/>
                </a:lnTo>
                <a:cubicBezTo>
                  <a:pt x="107513" y="55866"/>
                  <a:pt x="101966" y="54851"/>
                  <a:pt x="99361" y="50762"/>
                </a:cubicBezTo>
                <a:lnTo>
                  <a:pt x="81521" y="22711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45" name="Text 43"/>
          <p:cNvSpPr/>
          <p:nvPr/>
        </p:nvSpPr>
        <p:spPr>
          <a:xfrm>
            <a:off x="6921912" y="2682836"/>
            <a:ext cx="266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Expand Champion Segment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21912" y="2911301"/>
            <a:ext cx="2657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Replicate high-AOV traits through premium offerings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5120" y="3336335"/>
            <a:ext cx="5236414" cy="645364"/>
          </a:xfrm>
          <a:custGeom>
            <a:avLst/>
            <a:gdLst/>
            <a:ahLst/>
            <a:cxnLst/>
            <a:rect l="l" t="t" r="r" b="b"/>
            <a:pathLst>
              <a:path w="5236414" h="645364">
                <a:moveTo>
                  <a:pt x="76198" y="0"/>
                </a:moveTo>
                <a:lnTo>
                  <a:pt x="5160216" y="0"/>
                </a:lnTo>
                <a:cubicBezTo>
                  <a:pt x="5202299" y="0"/>
                  <a:pt x="5236414" y="34115"/>
                  <a:pt x="5236414" y="76198"/>
                </a:cubicBezTo>
                <a:lnTo>
                  <a:pt x="5236414" y="569166"/>
                </a:lnTo>
                <a:cubicBezTo>
                  <a:pt x="5236414" y="611249"/>
                  <a:pt x="5202299" y="645364"/>
                  <a:pt x="5160216" y="645364"/>
                </a:cubicBezTo>
                <a:lnTo>
                  <a:pt x="76198" y="645364"/>
                </a:lnTo>
                <a:cubicBezTo>
                  <a:pt x="34143" y="645364"/>
                  <a:pt x="0" y="611220"/>
                  <a:pt x="0" y="569166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2947" y="34541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49" name="Shape 47"/>
          <p:cNvSpPr/>
          <p:nvPr/>
        </p:nvSpPr>
        <p:spPr>
          <a:xfrm>
            <a:off x="6574295" y="3539863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45930" y="61779"/>
                </a:moveTo>
                <a:cubicBezTo>
                  <a:pt x="148638" y="64852"/>
                  <a:pt x="153300" y="65529"/>
                  <a:pt x="156816" y="63211"/>
                </a:cubicBezTo>
                <a:cubicBezTo>
                  <a:pt x="160645" y="60659"/>
                  <a:pt x="161687" y="55476"/>
                  <a:pt x="159134" y="51647"/>
                </a:cubicBezTo>
                <a:lnTo>
                  <a:pt x="146633" y="32895"/>
                </a:lnTo>
                <a:cubicBezTo>
                  <a:pt x="145904" y="31801"/>
                  <a:pt x="144914" y="30889"/>
                  <a:pt x="143742" y="30238"/>
                </a:cubicBezTo>
                <a:lnTo>
                  <a:pt x="91522" y="1224"/>
                </a:lnTo>
                <a:cubicBezTo>
                  <a:pt x="86495" y="-1563"/>
                  <a:pt x="80375" y="-1563"/>
                  <a:pt x="75322" y="1224"/>
                </a:cubicBezTo>
                <a:lnTo>
                  <a:pt x="23128" y="30212"/>
                </a:lnTo>
                <a:cubicBezTo>
                  <a:pt x="21721" y="30993"/>
                  <a:pt x="20602" y="32139"/>
                  <a:pt x="19846" y="33546"/>
                </a:cubicBezTo>
                <a:lnTo>
                  <a:pt x="7214" y="56960"/>
                </a:lnTo>
                <a:cubicBezTo>
                  <a:pt x="3933" y="63055"/>
                  <a:pt x="6225" y="70634"/>
                  <a:pt x="12319" y="73915"/>
                </a:cubicBezTo>
                <a:lnTo>
                  <a:pt x="20914" y="78525"/>
                </a:lnTo>
                <a:lnTo>
                  <a:pt x="20914" y="92407"/>
                </a:lnTo>
                <a:cubicBezTo>
                  <a:pt x="20914" y="98398"/>
                  <a:pt x="24144" y="103945"/>
                  <a:pt x="29353" y="106914"/>
                </a:cubicBezTo>
                <a:lnTo>
                  <a:pt x="75192" y="132881"/>
                </a:lnTo>
                <a:cubicBezTo>
                  <a:pt x="80296" y="135772"/>
                  <a:pt x="86521" y="135772"/>
                  <a:pt x="91626" y="132881"/>
                </a:cubicBezTo>
                <a:lnTo>
                  <a:pt x="137465" y="106914"/>
                </a:lnTo>
                <a:cubicBezTo>
                  <a:pt x="142700" y="103945"/>
                  <a:pt x="145904" y="98424"/>
                  <a:pt x="145904" y="92407"/>
                </a:cubicBezTo>
                <a:lnTo>
                  <a:pt x="145904" y="61805"/>
                </a:lnTo>
                <a:close/>
                <a:moveTo>
                  <a:pt x="83422" y="59226"/>
                </a:moveTo>
                <a:lnTo>
                  <a:pt x="44328" y="37505"/>
                </a:lnTo>
                <a:lnTo>
                  <a:pt x="83422" y="15783"/>
                </a:lnTo>
                <a:lnTo>
                  <a:pt x="122515" y="37505"/>
                </a:lnTo>
                <a:lnTo>
                  <a:pt x="83422" y="59226"/>
                </a:lnTo>
                <a:close/>
                <a:moveTo>
                  <a:pt x="72613" y="72301"/>
                </a:moveTo>
                <a:lnTo>
                  <a:pt x="67066" y="84333"/>
                </a:lnTo>
                <a:lnTo>
                  <a:pt x="23883" y="61206"/>
                </a:lnTo>
                <a:lnTo>
                  <a:pt x="30499" y="48912"/>
                </a:lnTo>
                <a:lnTo>
                  <a:pt x="72613" y="72301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50" name="Text 48"/>
          <p:cNvSpPr/>
          <p:nvPr/>
        </p:nvSpPr>
        <p:spPr>
          <a:xfrm>
            <a:off x="6921912" y="3454161"/>
            <a:ext cx="2952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Smart Bundling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21912" y="3682626"/>
            <a:ext cx="2943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Encourage higher basket value instead of repeat purchases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5120" y="4107655"/>
            <a:ext cx="5236414" cy="645364"/>
          </a:xfrm>
          <a:custGeom>
            <a:avLst/>
            <a:gdLst/>
            <a:ahLst/>
            <a:cxnLst/>
            <a:rect l="l" t="t" r="r" b="b"/>
            <a:pathLst>
              <a:path w="5236414" h="645364">
                <a:moveTo>
                  <a:pt x="76198" y="0"/>
                </a:moveTo>
                <a:lnTo>
                  <a:pt x="5160216" y="0"/>
                </a:lnTo>
                <a:cubicBezTo>
                  <a:pt x="5202299" y="0"/>
                  <a:pt x="5236414" y="34115"/>
                  <a:pt x="5236414" y="76198"/>
                </a:cubicBezTo>
                <a:lnTo>
                  <a:pt x="5236414" y="569166"/>
                </a:lnTo>
                <a:cubicBezTo>
                  <a:pt x="5236414" y="611249"/>
                  <a:pt x="5202299" y="645364"/>
                  <a:pt x="5160216" y="645364"/>
                </a:cubicBezTo>
                <a:lnTo>
                  <a:pt x="76198" y="645364"/>
                </a:lnTo>
                <a:cubicBezTo>
                  <a:pt x="34143" y="645364"/>
                  <a:pt x="0" y="611220"/>
                  <a:pt x="0" y="569166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2947" y="42254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4" name="Shape 52"/>
          <p:cNvSpPr/>
          <p:nvPr/>
        </p:nvSpPr>
        <p:spPr>
          <a:xfrm>
            <a:off x="6590963" y="43111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465" y="25003"/>
                </a:moveTo>
                <a:lnTo>
                  <a:pt x="8465" y="63940"/>
                </a:lnTo>
                <a:cubicBezTo>
                  <a:pt x="8465" y="68368"/>
                  <a:pt x="10210" y="72613"/>
                  <a:pt x="13335" y="75739"/>
                </a:cubicBezTo>
                <a:lnTo>
                  <a:pt x="63341" y="125745"/>
                </a:lnTo>
                <a:cubicBezTo>
                  <a:pt x="69852" y="132256"/>
                  <a:pt x="80401" y="132256"/>
                  <a:pt x="86912" y="125745"/>
                </a:cubicBezTo>
                <a:lnTo>
                  <a:pt x="125849" y="86808"/>
                </a:lnTo>
                <a:cubicBezTo>
                  <a:pt x="132360" y="80296"/>
                  <a:pt x="132360" y="69748"/>
                  <a:pt x="125849" y="63237"/>
                </a:cubicBezTo>
                <a:lnTo>
                  <a:pt x="75843" y="13231"/>
                </a:lnTo>
                <a:cubicBezTo>
                  <a:pt x="72717" y="10079"/>
                  <a:pt x="68498" y="8334"/>
                  <a:pt x="64071" y="8334"/>
                </a:cubicBezTo>
                <a:lnTo>
                  <a:pt x="25133" y="8334"/>
                </a:lnTo>
                <a:cubicBezTo>
                  <a:pt x="15939" y="8334"/>
                  <a:pt x="8465" y="15809"/>
                  <a:pt x="8465" y="25003"/>
                </a:cubicBezTo>
                <a:close/>
                <a:moveTo>
                  <a:pt x="37635" y="29170"/>
                </a:moveTo>
                <a:cubicBezTo>
                  <a:pt x="42235" y="29170"/>
                  <a:pt x="45969" y="32905"/>
                  <a:pt x="45969" y="37505"/>
                </a:cubicBezTo>
                <a:cubicBezTo>
                  <a:pt x="45969" y="42105"/>
                  <a:pt x="42235" y="45839"/>
                  <a:pt x="37635" y="45839"/>
                </a:cubicBezTo>
                <a:cubicBezTo>
                  <a:pt x="33035" y="45839"/>
                  <a:pt x="29301" y="42105"/>
                  <a:pt x="29301" y="37505"/>
                </a:cubicBezTo>
                <a:cubicBezTo>
                  <a:pt x="29301" y="32905"/>
                  <a:pt x="33035" y="29170"/>
                  <a:pt x="37635" y="2917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55" name="Text 53"/>
          <p:cNvSpPr/>
          <p:nvPr/>
        </p:nvSpPr>
        <p:spPr>
          <a:xfrm>
            <a:off x="6921912" y="4225482"/>
            <a:ext cx="2686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Reduce Blanket Discounting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21912" y="4453947"/>
            <a:ext cx="267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Shift strategy toward product and service experience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85120" y="4878980"/>
            <a:ext cx="5236414" cy="645364"/>
          </a:xfrm>
          <a:custGeom>
            <a:avLst/>
            <a:gdLst/>
            <a:ahLst/>
            <a:cxnLst/>
            <a:rect l="l" t="t" r="r" b="b"/>
            <a:pathLst>
              <a:path w="5236414" h="645364">
                <a:moveTo>
                  <a:pt x="76198" y="0"/>
                </a:moveTo>
                <a:lnTo>
                  <a:pt x="5160216" y="0"/>
                </a:lnTo>
                <a:cubicBezTo>
                  <a:pt x="5202299" y="0"/>
                  <a:pt x="5236414" y="34115"/>
                  <a:pt x="5236414" y="76198"/>
                </a:cubicBezTo>
                <a:lnTo>
                  <a:pt x="5236414" y="569166"/>
                </a:lnTo>
                <a:cubicBezTo>
                  <a:pt x="5236414" y="611249"/>
                  <a:pt x="5202299" y="645364"/>
                  <a:pt x="5160216" y="645364"/>
                </a:cubicBezTo>
                <a:lnTo>
                  <a:pt x="76198" y="645364"/>
                </a:lnTo>
                <a:cubicBezTo>
                  <a:pt x="34143" y="645364"/>
                  <a:pt x="0" y="611220"/>
                  <a:pt x="0" y="569166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5A06D">
              <a:alpha val="14902"/>
            </a:srgbClr>
          </a:solidFill>
          <a:ln w="9585">
            <a:solidFill>
              <a:srgbClr val="C5A06D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02947" y="499680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59" name="Shape 57"/>
          <p:cNvSpPr/>
          <p:nvPr/>
        </p:nvSpPr>
        <p:spPr>
          <a:xfrm>
            <a:off x="6599298" y="508250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0"/>
                </a:moveTo>
                <a:cubicBezTo>
                  <a:pt x="53731" y="0"/>
                  <a:pt x="50006" y="3724"/>
                  <a:pt x="50006" y="8334"/>
                </a:cubicBezTo>
                <a:lnTo>
                  <a:pt x="50006" y="9168"/>
                </a:lnTo>
                <a:cubicBezTo>
                  <a:pt x="30993" y="13022"/>
                  <a:pt x="16669" y="29847"/>
                  <a:pt x="16669" y="50006"/>
                </a:cubicBezTo>
                <a:lnTo>
                  <a:pt x="16669" y="55658"/>
                </a:lnTo>
                <a:cubicBezTo>
                  <a:pt x="16669" y="68186"/>
                  <a:pt x="12397" y="80349"/>
                  <a:pt x="4584" y="90141"/>
                </a:cubicBezTo>
                <a:lnTo>
                  <a:pt x="2032" y="93319"/>
                </a:lnTo>
                <a:cubicBezTo>
                  <a:pt x="703" y="94960"/>
                  <a:pt x="0" y="96991"/>
                  <a:pt x="0" y="99101"/>
                </a:cubicBezTo>
                <a:cubicBezTo>
                  <a:pt x="0" y="104206"/>
                  <a:pt x="4141" y="108347"/>
                  <a:pt x="9246" y="108347"/>
                </a:cubicBezTo>
                <a:lnTo>
                  <a:pt x="107409" y="108347"/>
                </a:lnTo>
                <a:cubicBezTo>
                  <a:pt x="112514" y="108347"/>
                  <a:pt x="116655" y="104206"/>
                  <a:pt x="116655" y="99101"/>
                </a:cubicBezTo>
                <a:cubicBezTo>
                  <a:pt x="116655" y="96991"/>
                  <a:pt x="115952" y="94960"/>
                  <a:pt x="114624" y="93319"/>
                </a:cubicBezTo>
                <a:lnTo>
                  <a:pt x="112071" y="90141"/>
                </a:lnTo>
                <a:cubicBezTo>
                  <a:pt x="104284" y="80349"/>
                  <a:pt x="100013" y="68186"/>
                  <a:pt x="100013" y="55658"/>
                </a:cubicBezTo>
                <a:lnTo>
                  <a:pt x="100013" y="50006"/>
                </a:lnTo>
                <a:cubicBezTo>
                  <a:pt x="100013" y="29847"/>
                  <a:pt x="85688" y="13022"/>
                  <a:pt x="66675" y="9168"/>
                </a:cubicBezTo>
                <a:lnTo>
                  <a:pt x="66675" y="8334"/>
                </a:lnTo>
                <a:cubicBezTo>
                  <a:pt x="66675" y="3724"/>
                  <a:pt x="62951" y="0"/>
                  <a:pt x="58341" y="0"/>
                </a:cubicBezTo>
                <a:close/>
                <a:moveTo>
                  <a:pt x="42193" y="120848"/>
                </a:moveTo>
                <a:cubicBezTo>
                  <a:pt x="44042" y="128037"/>
                  <a:pt x="50579" y="133350"/>
                  <a:pt x="58341" y="133350"/>
                </a:cubicBezTo>
                <a:cubicBezTo>
                  <a:pt x="66102" y="133350"/>
                  <a:pt x="72639" y="128037"/>
                  <a:pt x="74488" y="120848"/>
                </a:cubicBezTo>
                <a:lnTo>
                  <a:pt x="42193" y="120848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60" name="Text 58"/>
          <p:cNvSpPr/>
          <p:nvPr/>
        </p:nvSpPr>
        <p:spPr>
          <a:xfrm>
            <a:off x="6921912" y="4996807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0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Strengthen Subscription Adoption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21912" y="5225272"/>
            <a:ext cx="2552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E0E2E6">
                    <a:alpha val="85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Promote convenience-based benefits for retention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88fc75e1bef7de10ee41a4326a6750d40659f1f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51" r="5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3A5F7A">
                  <a:alpha val="3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733" y="101719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5" name="Text 2"/>
          <p:cNvSpPr/>
          <p:nvPr/>
        </p:nvSpPr>
        <p:spPr>
          <a:xfrm>
            <a:off x="4334279" y="1283852"/>
            <a:ext cx="35242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733" y="21982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7" name="Text 4"/>
          <p:cNvSpPr/>
          <p:nvPr/>
        </p:nvSpPr>
        <p:spPr>
          <a:xfrm>
            <a:off x="4876643" y="2541087"/>
            <a:ext cx="24384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3888" y="3296905"/>
            <a:ext cx="3607639" cy="1969339"/>
          </a:xfrm>
          <a:custGeom>
            <a:avLst/>
            <a:gdLst/>
            <a:ahLst/>
            <a:cxnLst/>
            <a:rect l="l" t="t" r="r" b="b"/>
            <a:pathLst>
              <a:path w="3607639" h="1969339">
                <a:moveTo>
                  <a:pt x="152407" y="0"/>
                </a:moveTo>
                <a:lnTo>
                  <a:pt x="3455232" y="0"/>
                </a:lnTo>
                <a:cubicBezTo>
                  <a:pt x="3539404" y="0"/>
                  <a:pt x="3607639" y="68235"/>
                  <a:pt x="3607639" y="152407"/>
                </a:cubicBezTo>
                <a:lnTo>
                  <a:pt x="3607639" y="1816932"/>
                </a:lnTo>
                <a:cubicBezTo>
                  <a:pt x="3607639" y="1901104"/>
                  <a:pt x="3539404" y="1969339"/>
                  <a:pt x="3455232" y="1969339"/>
                </a:cubicBezTo>
                <a:lnTo>
                  <a:pt x="152407" y="1969339"/>
                </a:lnTo>
                <a:cubicBezTo>
                  <a:pt x="68235" y="1969339"/>
                  <a:pt x="0" y="1901104"/>
                  <a:pt x="0" y="1816932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2D313A">
              <a:alpha val="60000"/>
            </a:srgbClr>
          </a:solidFill>
          <a:ln w="9585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3390" y="36052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684" y="214424"/>
                </a:moveTo>
                <a:cubicBezTo>
                  <a:pt x="210350" y="192993"/>
                  <a:pt x="187189" y="178594"/>
                  <a:pt x="160734" y="178594"/>
                </a:cubicBezTo>
                <a:lnTo>
                  <a:pt x="125016" y="178594"/>
                </a:lnTo>
                <a:cubicBezTo>
                  <a:pt x="98561" y="178594"/>
                  <a:pt x="75400" y="192993"/>
                  <a:pt x="63066" y="214424"/>
                </a:cubicBezTo>
                <a:cubicBezTo>
                  <a:pt x="82711" y="236302"/>
                  <a:pt x="111175" y="250031"/>
                  <a:pt x="142875" y="250031"/>
                </a:cubicBezTo>
                <a:cubicBezTo>
                  <a:pt x="174575" y="250031"/>
                  <a:pt x="203039" y="236246"/>
                  <a:pt x="222684" y="214424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51805"/>
                </a:moveTo>
                <a:cubicBezTo>
                  <a:pt x="165053" y="151805"/>
                  <a:pt x="183059" y="133799"/>
                  <a:pt x="183059" y="111621"/>
                </a:cubicBezTo>
                <a:cubicBezTo>
                  <a:pt x="183059" y="89443"/>
                  <a:pt x="165053" y="71438"/>
                  <a:pt x="142875" y="71438"/>
                </a:cubicBezTo>
                <a:cubicBezTo>
                  <a:pt x="120697" y="71438"/>
                  <a:pt x="102691" y="89443"/>
                  <a:pt x="102691" y="111621"/>
                </a:cubicBezTo>
                <a:cubicBezTo>
                  <a:pt x="102691" y="133799"/>
                  <a:pt x="120697" y="151805"/>
                  <a:pt x="142875" y="151805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0" name="Text 7"/>
          <p:cNvSpPr/>
          <p:nvPr/>
        </p:nvSpPr>
        <p:spPr>
          <a:xfrm>
            <a:off x="5803735" y="3614779"/>
            <a:ext cx="1057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Meghana 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02215" y="4119562"/>
            <a:ext cx="1419225" cy="838200"/>
          </a:xfrm>
          <a:custGeom>
            <a:avLst/>
            <a:gdLst/>
            <a:ahLst/>
            <a:cxnLst/>
            <a:rect l="l" t="t" r="r" b="b"/>
            <a:pathLst>
              <a:path w="1419225" h="838200">
                <a:moveTo>
                  <a:pt x="76201" y="0"/>
                </a:moveTo>
                <a:lnTo>
                  <a:pt x="1343024" y="0"/>
                </a:lnTo>
                <a:cubicBezTo>
                  <a:pt x="1385109" y="0"/>
                  <a:pt x="1419225" y="34116"/>
                  <a:pt x="1419225" y="76201"/>
                </a:cubicBezTo>
                <a:lnTo>
                  <a:pt x="1419225" y="761999"/>
                </a:lnTo>
                <a:cubicBezTo>
                  <a:pt x="1419225" y="804084"/>
                  <a:pt x="1385109" y="838200"/>
                  <a:pt x="13430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215724" y="42337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13" name="Text 10"/>
          <p:cNvSpPr/>
          <p:nvPr/>
        </p:nvSpPr>
        <p:spPr>
          <a:xfrm>
            <a:off x="4687873" y="4500451"/>
            <a:ext cx="1247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Customer Intelligence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83110" y="4652869"/>
            <a:ext cx="1257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043" y="4119562"/>
            <a:ext cx="1419225" cy="838200"/>
          </a:xfrm>
          <a:custGeom>
            <a:avLst/>
            <a:gdLst/>
            <a:ahLst/>
            <a:cxnLst/>
            <a:rect l="l" t="t" r="r" b="b"/>
            <a:pathLst>
              <a:path w="1419225" h="838200">
                <a:moveTo>
                  <a:pt x="76201" y="0"/>
                </a:moveTo>
                <a:lnTo>
                  <a:pt x="1343024" y="0"/>
                </a:lnTo>
                <a:cubicBezTo>
                  <a:pt x="1385109" y="0"/>
                  <a:pt x="1419225" y="34116"/>
                  <a:pt x="1419225" y="76201"/>
                </a:cubicBezTo>
                <a:lnTo>
                  <a:pt x="1419225" y="761999"/>
                </a:lnTo>
                <a:cubicBezTo>
                  <a:pt x="1419225" y="804084"/>
                  <a:pt x="1385109" y="838200"/>
                  <a:pt x="13430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6797458" y="423379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5A06D"/>
          </a:solidFill>
        </p:spPr>
      </p:sp>
      <p:sp>
        <p:nvSpPr>
          <p:cNvPr id="17" name="Text 14"/>
          <p:cNvSpPr/>
          <p:nvPr/>
        </p:nvSpPr>
        <p:spPr>
          <a:xfrm>
            <a:off x="6257701" y="4500451"/>
            <a:ext cx="1247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6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Data-Driven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52938" y="4652869"/>
            <a:ext cx="1257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Business Decisions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11458" y="567883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C5A06D"/>
          </a:solidFill>
        </p:spPr>
      </p:sp>
      <p:sp>
        <p:nvSpPr>
          <p:cNvPr id="20" name="Text 17"/>
          <p:cNvSpPr/>
          <p:nvPr/>
        </p:nvSpPr>
        <p:spPr>
          <a:xfrm>
            <a:off x="5601970" y="5650230"/>
            <a:ext cx="171259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mmeghana924@gmail.com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6269</Words>
  <Application>WPS Presentation</Application>
  <PresentationFormat>On-screen Show (16:9)</PresentationFormat>
  <Paragraphs>432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Quattrocento Sans</vt:lpstr>
      <vt:lpstr>Quattrocento Sans</vt:lpstr>
      <vt:lpstr>Quattrocento Sans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Manager>Meghana 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&amp; Behavioral Analytics Dashboard</dc:title>
  <dc:creator>Meghana M</dc:creator>
  <dc:subject>Customer Intelligence &amp; Behavioral Analytics Dashboard</dc:subject>
  <cp:lastModifiedBy>WPS_1756206956</cp:lastModifiedBy>
  <cp:revision>9</cp:revision>
  <dcterms:created xsi:type="dcterms:W3CDTF">2026-02-15T11:20:00Z</dcterms:created>
  <dcterms:modified xsi:type="dcterms:W3CDTF">2026-02-15T12:29:11Z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{"Label":"Customer Intelligence &amp; Behavioral Analytics Dashboard","ContentProducer":"001191110108MACG2KBH8F10000","ProduceID":"19c61049-e3f2-8226-8000-0000551f96e3","ReservedCode1":"","ContentPropagator":"001191110108MACG2KBH8F20000","PropagateID":"19c61049-e3f2-8226-8000-0000551f96e3","ReservedCode2":""}</vt:lpwstr>
  </property>
  <property fmtid="{D5CDD505-2E9C-101B-9397-08002B2CF9AE}" pid="3" name="ICV">
    <vt:lpwstr>C5F5D52ABBB84884BC9F5C3EFBCFF344_12</vt:lpwstr>
  </property>
  <property fmtid="{D5CDD505-2E9C-101B-9397-08002B2CF9AE}" pid="4" name="KSOProductBuildVer">
    <vt:lpwstr>1033-12.2.0.23196</vt:lpwstr>
  </property>
</Properties>
</file>